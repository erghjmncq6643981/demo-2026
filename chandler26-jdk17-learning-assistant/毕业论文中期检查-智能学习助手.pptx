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dff464744214ffe" /><Relationship Type="http://schemas.openxmlformats.org/officeDocument/2006/relationships/extended-properties" Target="/docProps/app.xml" Id="Rcfcb8b5524aa4b43" /><Relationship Type="http://schemas.openxmlformats.org/officeDocument/2006/relationships/officeDocument" Target="/ppt/presentation.xml" Id="Rc619a2d1fbc6475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ddf1e07a7c64b32"/>
  </p:sldMasterIdLst>
  <p:notesMasterIdLst>
    <p:notesMasterId xmlns:r="http://schemas.openxmlformats.org/officeDocument/2006/relationships" r:id="R3bfcaefa41d44baf"/>
  </p:notesMasterIdLst>
  <p:sldIdLst>
    <p:sldId xmlns:r="http://schemas.openxmlformats.org/officeDocument/2006/relationships" id="256" r:id="Rd2751a6ac8af4e20"/>
    <p:sldId xmlns:r="http://schemas.openxmlformats.org/officeDocument/2006/relationships" id="257" r:id="R9ca7549ada034493"/>
    <p:sldId xmlns:r="http://schemas.openxmlformats.org/officeDocument/2006/relationships" id="258" r:id="R90ade62defb44ef0"/>
    <p:sldId xmlns:r="http://schemas.openxmlformats.org/officeDocument/2006/relationships" id="259" r:id="Ra9d1eed419da4a56"/>
    <p:sldId xmlns:r="http://schemas.openxmlformats.org/officeDocument/2006/relationships" id="260" r:id="R63ced45d665a4a66"/>
    <p:sldId xmlns:r="http://schemas.openxmlformats.org/officeDocument/2006/relationships" id="261" r:id="R7ff96f3d20634c80"/>
    <p:sldId xmlns:r="http://schemas.openxmlformats.org/officeDocument/2006/relationships" id="262" r:id="R23e69d620d3a4af0"/>
    <p:sldId xmlns:r="http://schemas.openxmlformats.org/officeDocument/2006/relationships" id="263" r:id="Readb0c76b1c74a3d"/>
    <p:sldId xmlns:r="http://schemas.openxmlformats.org/officeDocument/2006/relationships" id="264" r:id="Rfc64839128584792"/>
    <p:sldId xmlns:r="http://schemas.openxmlformats.org/officeDocument/2006/relationships" id="265" r:id="R38f2475370e64ad0"/>
    <p:sldId xmlns:r="http://schemas.openxmlformats.org/officeDocument/2006/relationships" id="266" r:id="Rcd970f03deae4ac3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89ce65b922540bd" /><Relationship Type="http://schemas.openxmlformats.org/officeDocument/2006/relationships/slideMaster" Target="/ppt/slideMasters/slideMaster1.xml" Id="R2ddf1e07a7c64b32" /><Relationship Type="http://schemas.openxmlformats.org/officeDocument/2006/relationships/notesMaster" Target="/ppt/notesMasters/notesMaster1.xml" Id="R3bfcaefa41d44baf" /><Relationship Type="http://schemas.openxmlformats.org/officeDocument/2006/relationships/presProps" Target="/ppt/presProps.xml" Id="R08b24a1d21ec412c" /><Relationship Type="http://schemas.openxmlformats.org/officeDocument/2006/relationships/tableStyles" Target="/ppt/tableStyles.xml" Id="R41a6a6b20f7f4f39" /><Relationship Type="http://schemas.openxmlformats.org/officeDocument/2006/relationships/slide" Target="/ppt/slides/slide1.xml" Id="Rd2751a6ac8af4e20" /><Relationship Type="http://schemas.openxmlformats.org/officeDocument/2006/relationships/slide" Target="/ppt/slides/slide2.xml" Id="R9ca7549ada034493" /><Relationship Type="http://schemas.openxmlformats.org/officeDocument/2006/relationships/slide" Target="/ppt/slides/slide3.xml" Id="R90ade62defb44ef0" /><Relationship Type="http://schemas.openxmlformats.org/officeDocument/2006/relationships/slide" Target="/ppt/slides/slide4.xml" Id="Ra9d1eed419da4a56" /><Relationship Type="http://schemas.openxmlformats.org/officeDocument/2006/relationships/slide" Target="/ppt/slides/slide5.xml" Id="R63ced45d665a4a66" /><Relationship Type="http://schemas.openxmlformats.org/officeDocument/2006/relationships/slide" Target="/ppt/slides/slide6.xml" Id="R7ff96f3d20634c80" /><Relationship Type="http://schemas.openxmlformats.org/officeDocument/2006/relationships/slide" Target="/ppt/slides/slide7.xml" Id="R23e69d620d3a4af0" /><Relationship Type="http://schemas.openxmlformats.org/officeDocument/2006/relationships/slide" Target="/ppt/slides/slide8.xml" Id="Readb0c76b1c74a3d" /><Relationship Type="http://schemas.openxmlformats.org/officeDocument/2006/relationships/slide" Target="/ppt/slides/slide9.xml" Id="Rfc64839128584792" /><Relationship Type="http://schemas.openxmlformats.org/officeDocument/2006/relationships/slide" Target="/ppt/slides/slide10.xml" Id="R38f2475370e64ad0" /><Relationship Type="http://schemas.openxmlformats.org/officeDocument/2006/relationships/slide" Target="/ppt/slides/slide11.xml" Id="Rcd970f03deae4ac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0dbd863f67144f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43cba64d2564e94" /><Relationship Type="http://schemas.openxmlformats.org/officeDocument/2006/relationships/notesMaster" Target="/ppt/notesMasters/notesMaster1.xml" Id="R383e5bf7922f404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abb2cf137e64e28" /><Relationship Type="http://schemas.openxmlformats.org/officeDocument/2006/relationships/notesMaster" Target="/ppt/notesMasters/notesMaster1.xml" Id="R7204244ef6314c53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fc639a6175964f8c" /><Relationship Type="http://schemas.openxmlformats.org/officeDocument/2006/relationships/notesMaster" Target="/ppt/notesMasters/notesMaster1.xml" Id="R0702f4b28c8249d3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f4bc28b9d424be9" /><Relationship Type="http://schemas.openxmlformats.org/officeDocument/2006/relationships/notesMaster" Target="/ppt/notesMasters/notesMaster1.xml" Id="R72028f7fb3494cca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875a80fba9f747a0" /><Relationship Type="http://schemas.openxmlformats.org/officeDocument/2006/relationships/notesMaster" Target="/ppt/notesMasters/notesMaster1.xml" Id="R708a317123e34792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a57d509eeb364da4" /><Relationship Type="http://schemas.openxmlformats.org/officeDocument/2006/relationships/notesMaster" Target="/ppt/notesMasters/notesMaster1.xml" Id="Ra257e5da4be944e6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993b186ea6f44e6e" /><Relationship Type="http://schemas.openxmlformats.org/officeDocument/2006/relationships/notesMaster" Target="/ppt/notesMasters/notesMaster1.xml" Id="Rb523316379864f6c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54c72489a32243eb" /><Relationship Type="http://schemas.openxmlformats.org/officeDocument/2006/relationships/notesMaster" Target="/ppt/notesMasters/notesMaster1.xml" Id="R09ded365d1004d45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a27cf53af2774468" /><Relationship Type="http://schemas.openxmlformats.org/officeDocument/2006/relationships/notesMaster" Target="/ppt/notesMasters/notesMaster1.xml" Id="R2e709c4fe2c04576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44ee7aeb3bfb4ca2" /><Relationship Type="http://schemas.openxmlformats.org/officeDocument/2006/relationships/notesMaster" Target="/ppt/notesMasters/notesMaster1.xml" Id="Re43db96985614995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35b3acc536ea45be" /><Relationship Type="http://schemas.openxmlformats.org/officeDocument/2006/relationships/notesMaster" Target="/ppt/notesMasters/notesMaster1.xml" Id="R840123bc3e5b426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项目设计文档：docs/english-vocabulary-learning-assistant-design.md</a:t>
            </a:r>
          </a:p>
          <a:p xmlns:a="http://schemas.openxmlformats.org/drawingml/2006/main">
            <a:r>
              <a:t>版式参考：Codex Grid Layout Library slide-01（本页未使用外部图片）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项目设计文档第 1 节：背景与目标</a:t>
            </a:r>
          </a:p>
          <a:p xmlns:a="http://schemas.openxmlformats.org/drawingml/2006/main">
            <a:r>
              <a:t>项目设计文档第 2 节：当前实现范围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项目设计文档第 1 节：第一阶段闭环定义</a:t>
            </a:r>
          </a:p>
          <a:p xmlns:a="http://schemas.openxmlformats.org/drawingml/2006/main">
            <a:r>
              <a:t>项目设计文档第 4、5、6 节：词汇学习、单词本、复习流程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项目设计文档第 3 节：系统架构</a:t>
            </a:r>
          </a:p>
          <a:p xmlns:a="http://schemas.openxmlformats.org/drawingml/2006/main">
            <a:r>
              <a:t>项目设计文档第 9 节：安全与成本控制</a:t>
            </a:r>
          </a:p>
          <a:p xmlns:a="http://schemas.openxmlformats.org/drawingml/2006/main">
            <a:r>
              <a:t>pom.xml：Spring Boot 3.3.6、Java 17、MyBatis-Plus、MySQL 依赖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项目设计文档第 1、2、7 节：Agent、Prompt、模型配置与会话规则</a:t>
            </a:r>
          </a:p>
          <a:p xmlns:a="http://schemas.openxmlformats.org/drawingml/2006/main">
            <a:r>
              <a:t>界面截图：chandler26-jdk17-learning-assistant-web/docs/images/02-agent-management.jpg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项目设计文档第 1 节：缓存与会话规则</a:t>
            </a:r>
          </a:p>
          <a:p xmlns:a="http://schemas.openxmlformats.org/drawingml/2006/main">
            <a:r>
              <a:t>项目设计文档第 5 节：单词本词条个人学习卡快照</a:t>
            </a:r>
          </a:p>
          <a:p xmlns:a="http://schemas.openxmlformats.org/drawingml/2006/main">
            <a:r>
              <a:t>界面截图：chandler26-jdk17-learning-assistant-web/docs/images/04-wordbook-detail.jpg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仓库结构统计（2026-08-15）：src/main/java、src/main/resources/db、src/test/java</a:t>
            </a:r>
          </a:p>
          <a:p xmlns:a="http://schemas.openxmlformats.org/drawingml/2006/main">
            <a:r>
              <a:t>项目设计文档第 2 节：已实现范围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项目设计文档第 10 节：验证结果</a:t>
            </a:r>
          </a:p>
          <a:p xmlns:a="http://schemas.openxmlformats.org/drawingml/2006/main">
            <a:r>
              <a:t>项目设计文档第 2 节：暂未实现与验证边界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项目设计文档第 2 节：暂未实现</a:t>
            </a:r>
          </a:p>
          <a:p xmlns:a="http://schemas.openxmlformats.org/drawingml/2006/main">
            <a:r>
              <a:t>项目设计文档第 9 节：安全与成本控制</a:t>
            </a:r>
          </a:p>
          <a:p xmlns:a="http://schemas.openxmlformats.org/drawingml/2006/main">
            <a:r>
              <a:t>界面截图：chandler26-jdk17-learning-assistant-web/docs/images/06-confirm-dialog.jpg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项目设计文档第 11 节：后续迭代</a:t>
            </a:r>
          </a:p>
          <a:p xmlns:a="http://schemas.openxmlformats.org/drawingml/2006/main">
            <a:r>
              <a:t>时间安排为本次中期汇报的执行建议，不引用外部日历数据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本页为项目设计文档第 2、10、11 节的中期综合结论</a:t>
            </a:r>
          </a:p>
          <a:p xmlns:a="http://schemas.openxmlformats.org/drawingml/2006/main">
            <a:r>
              <a:t>未使用外部图片或外部事实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c6b1217cd66467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6aca2cd72c34846" /><Relationship Type="http://schemas.openxmlformats.org/officeDocument/2006/relationships/slideLayout" Target="/ppt/slideLayouts/slideLayout1.xml" Id="R53895d7e48194e8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3895d7e48194e8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30c146bfa4f4525" /><Relationship Type="http://schemas.openxmlformats.org/officeDocument/2006/relationships/notesSlide" Target="/ppt/notesSlides/notesSlide1.xml" Id="R5ffbf6c2e208453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2029e87415c4517" /><Relationship Type="http://schemas.openxmlformats.org/officeDocument/2006/relationships/notesSlide" Target="/ppt/notesSlides/notesSlide2.xml" Id="Rfeadcb3e5e8e4ab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41fcea290e34993" /><Relationship Type="http://schemas.openxmlformats.org/officeDocument/2006/relationships/notesSlide" Target="/ppt/notesSlides/notesSlide3.xml" Id="R5d74609a8b6e4f3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351d697b66a4ebe" /><Relationship Type="http://schemas.openxmlformats.org/officeDocument/2006/relationships/notesSlide" Target="/ppt/notesSlides/notesSlide4.xml" Id="R59eac10f30644abc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b68998e7dbd459b" /><Relationship Type="http://schemas.openxmlformats.org/officeDocument/2006/relationships/image" Target="/ppt/media/image.jpeg" Id="R823177bd8bac4988" /><Relationship Type="http://schemas.openxmlformats.org/officeDocument/2006/relationships/notesSlide" Target="/ppt/notesSlides/notesSlide5.xml" Id="Rd60112ceecd74e1c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484263f78424746" /><Relationship Type="http://schemas.openxmlformats.org/officeDocument/2006/relationships/image" Target="/ppt/media/image2.jpeg" Id="Ra15a0722726c4772" /><Relationship Type="http://schemas.openxmlformats.org/officeDocument/2006/relationships/notesSlide" Target="/ppt/notesSlides/notesSlide6.xml" Id="R9794073b7511441d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1b0dbf4b24d4d01" /><Relationship Type="http://schemas.openxmlformats.org/officeDocument/2006/relationships/notesSlide" Target="/ppt/notesSlides/notesSlide7.xml" Id="Rfd785590acbe4812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8cef1109e1a4f9c" /><Relationship Type="http://schemas.openxmlformats.org/officeDocument/2006/relationships/notesSlide" Target="/ppt/notesSlides/notesSlide8.xml" Id="R40130f28061c45c5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846bc480b784da5" /><Relationship Type="http://schemas.openxmlformats.org/officeDocument/2006/relationships/image" Target="/ppt/media/image3.jpeg" Id="R094e5847a3154160" /><Relationship Type="http://schemas.openxmlformats.org/officeDocument/2006/relationships/notesSlide" Target="/ppt/notesSlides/notesSlide9.xml" Id="Ree23847568f2425d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92dad1c07ff4306" /><Relationship Type="http://schemas.openxmlformats.org/officeDocument/2006/relationships/notesSlide" Target="/ppt/notesSlides/notesSlide10.xml" Id="R4376cfb1a8f0421a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a61970b32674dbd" /><Relationship Type="http://schemas.openxmlformats.org/officeDocument/2006/relationships/notesSlide" Target="/ppt/notesSlides/notesSlide11.xml" Id="R4df8314b1ac2475a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2065DC6-7B6C-48ED-8B57-DB373F84F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00050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毕业论文中期检查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C395CDE-BFDF-43E0-9EFA-0C6CE4719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0"/>
            <a:ext cx="3048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233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EADAA63-0D98-4D95-950C-42179BCD3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38A1363-47E7-4317-9E1D-82B6D63E3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90700"/>
            <a:ext cx="78105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250" b="1">
                <a:solidFill>
                  <a:srgbClr val="1018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5250" b="1">
                <a:solidFill>
                  <a:srgbClr val="101820"/>
                </a:solidFill>
                <a:latin typeface="Microsoft YaHei"/>
                <a:ea typeface="Microsoft YaHei"/>
                <a:cs typeface="Microsoft YaHei"/>
              </a:rPr>
              <a:t>英语学习助手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429E502-805F-4AE0-82C1-838B3DE86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48000"/>
            <a:ext cx="7715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0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rPr>
              <a:t>基于 Spring Boot 与大模型的个性化学习系统设计与实现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3F0F37A-C7C8-4B1E-A5EF-78CFBC69E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57650"/>
            <a:ext cx="5334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F47946F-1D0D-475D-BD53-D9E0EDE98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0"/>
            <a:ext cx="5334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rPr>
              <a:t>汇报人：________    学号：________</a:t>
            </a:r>
          </a:p>
          <a:p xmlns:a="http://schemas.openxmlformats.org/drawingml/2006/main">
            <a:pPr algn="l">
              <a:defRPr sz="1650" b="0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rPr>
              <a:t>指导教师：________  学院：________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8AF77B8-124B-4927-B3DD-441ADBDA2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10300"/>
            <a:ext cx="381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8A949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8A949F"/>
                </a:solidFill>
                <a:latin typeface="Microsoft YaHei"/>
                <a:ea typeface="Microsoft YaHei"/>
                <a:cs typeface="Microsoft YaHei"/>
              </a:rPr>
              <a:t>2026 年中期检查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9FD1F10-BD9C-41CC-A549-773B00A66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1030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6DCBF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DCBF4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0788724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DBCB1AA-5668-4058-BC5E-D9875F134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4290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研究背景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8F6D2DE-64A1-4458-A8A0-7BAAD0856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"/>
            <a:ext cx="11144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018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101820"/>
                </a:solidFill>
                <a:latin typeface="Microsoft YaHei"/>
                <a:ea typeface="Microsoft YaHei"/>
                <a:cs typeface="Microsoft YaHei"/>
              </a:rPr>
              <a:t>研究问题：让 AI 生成结果进入持续学习闭环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483F65A-83E8-42C4-AD57-31191511B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525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CED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9591784-8E11-45A9-B3CE-9E4D3C61A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6270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CED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59ADFD1-7B3C-44D9-9E23-93A9FD5C0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77000"/>
            <a:ext cx="3810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8A949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8A949F"/>
                </a:solidFill>
                <a:latin typeface="Microsoft YaHei"/>
                <a:ea typeface="Microsoft YaHei"/>
                <a:cs typeface="Microsoft YaHei"/>
              </a:rPr>
              <a:t>毕业论文中期检查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062FD78-AEFA-45CC-BD28-5D7D4ACA0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48425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8A949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8A949F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30991AE-33BD-45A2-B445-AFAE0D1A7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19250"/>
            <a:ext cx="7905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0000"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rPr>
              <a:t>通用聊天工具可以给出答案，但难以把答案变成可追踪、可复习、可积累的个人知识资产。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937E9D0-E66E-4B30-8B0D-F7D9457C9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476500"/>
            <a:ext cx="5143500" cy="2781300"/>
          </a:xfrm>
          <a:prstGeom xmlns:a="http://schemas.openxmlformats.org/drawingml/2006/main" prst="roundRect">
            <a:avLst>
              <a:gd name="adj" fmla="val 2740"/>
            </a:avLst>
          </a:prstGeom>
          <a:solidFill xmlns:a="http://schemas.openxmlformats.org/drawingml/2006/main">
            <a:srgbClr val="F1F4F7"/>
          </a:solidFill>
          <a:ln xmlns:a="http://schemas.openxmlformats.org/drawingml/2006/main" w="9525">
            <a:solidFill>
              <a:srgbClr val="C7CED6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6E9B1A6-158A-4A46-B2B9-535F545C8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2415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D96A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D96A7B"/>
                </a:solidFill>
                <a:latin typeface="Microsoft YaHei"/>
                <a:ea typeface="Microsoft YaHei"/>
                <a:cs typeface="Microsoft YaHei"/>
              </a:rPr>
              <a:t>现有痛点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9A21512-90BD-473F-84DA-5B851B1DF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81350"/>
            <a:ext cx="514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D96A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D96A7B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71663DA-2C16-4784-B498-81BCED5E2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162300"/>
            <a:ext cx="3657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18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01820"/>
                </a:solidFill>
                <a:latin typeface="Microsoft YaHei"/>
                <a:ea typeface="Microsoft YaHei"/>
                <a:cs typeface="Microsoft YaHei"/>
              </a:rPr>
              <a:t>生成内容难沉淀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0213157-3609-456A-A2B0-1CF706668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505200"/>
            <a:ext cx="36576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rPr>
              <a:t>查词结果停留在一次性对话，复习入口不连续。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EA08E48-732E-476D-95EB-3542D867F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38600"/>
            <a:ext cx="514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D96A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D96A7B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DB96A6D-2F51-40C4-9AFF-17ADB6FE7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019550"/>
            <a:ext cx="3657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18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01820"/>
                </a:solidFill>
                <a:latin typeface="Microsoft YaHei"/>
                <a:ea typeface="Microsoft YaHei"/>
                <a:cs typeface="Microsoft YaHei"/>
              </a:rPr>
              <a:t>学习进度难贴合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9BEEE71-247C-49B4-A983-FCBF0CE94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362450"/>
            <a:ext cx="36576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rPr>
              <a:t>同一个词条没有个人熟悉度、笔记和复习节奏。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9F85219-8BB3-4DE7-B939-3B7260501A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476500"/>
            <a:ext cx="5638800" cy="2781300"/>
          </a:xfrm>
          <a:prstGeom xmlns:a="http://schemas.openxmlformats.org/drawingml/2006/main" prst="roundRect">
            <a:avLst>
              <a:gd name="adj" fmla="val 2740"/>
            </a:avLst>
          </a:prstGeom>
          <a:solidFill xmlns:a="http://schemas.openxmlformats.org/drawingml/2006/main">
            <a:srgbClr val="132338"/>
          </a:solidFill>
          <a:ln xmlns:a="http://schemas.openxmlformats.org/drawingml/2006/main" w="9525">
            <a:solidFill>
              <a:srgbClr val="132338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82900CC-FCFF-4A52-BA82-B49BE8BFFB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72415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DCBF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6DCBF4"/>
                </a:solidFill>
                <a:latin typeface="Microsoft YaHei"/>
                <a:ea typeface="Microsoft YaHei"/>
                <a:cs typeface="Microsoft YaHei"/>
              </a:rPr>
              <a:t>论文问题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95419B4-DF13-40A8-90B6-608334896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162300"/>
            <a:ext cx="47625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7643"/>
          </a:bodyPr>
          <a:lstStyle xmlns:a="http://schemas.openxmlformats.org/drawingml/2006/main"/>
          <a:p xmlns:a="http://schemas.openxmlformats.org/drawingml/2006/main">
            <a:pPr algn="l">
              <a:defRPr sz="24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如何把 AI 生成、个人词本与间隔复习组织成一个可运行的学习闭环？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91D591A-EBDE-4113-A19B-B0C1056BE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4476750"/>
            <a:ext cx="4762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D7E6F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D7E6F4"/>
                </a:solidFill>
                <a:latin typeface="Microsoft YaHei"/>
                <a:ea typeface="Microsoft YaHei"/>
                <a:cs typeface="Microsoft YaHei"/>
              </a:rPr>
              <a:t>研究对象：英语词汇学习场景</a:t>
            </a:r>
          </a:p>
          <a:p xmlns:a="http://schemas.openxmlformats.org/drawingml/2006/main">
            <a:pPr algn="l">
              <a:defRPr sz="1425" b="0">
                <a:solidFill>
                  <a:srgbClr val="D7E6F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D7E6F4"/>
                </a:solidFill>
                <a:latin typeface="Microsoft YaHei"/>
                <a:ea typeface="Microsoft YaHei"/>
                <a:cs typeface="Microsoft YaHei"/>
              </a:rPr>
              <a:t>扩展方向：文章阅读、编程学习、专业文献</a:t>
            </a:r>
          </a:p>
        </p:txBody>
      </p:sp>
    </p:spTree>
    <p:extLst>
      <p:ext uri="{BB962C8B-B14F-4D97-AF65-F5344CB8AC3E}">
        <p14:creationId xmlns:p14="http://schemas.microsoft.com/office/powerpoint/2010/main" val="106121081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D41467F-730E-47A0-A606-8655A3332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4290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研究内容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34F9065-D0C3-4D64-A5B7-63E1A3F9B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"/>
            <a:ext cx="11144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018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101820"/>
                </a:solidFill>
                <a:latin typeface="Microsoft YaHei"/>
                <a:ea typeface="Microsoft YaHei"/>
                <a:cs typeface="Microsoft YaHei"/>
              </a:rPr>
              <a:t>研究范围聚焦一条可验证的学习闭环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75DA140-D0CF-4928-B7E7-BB1653153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525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CED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822F9BC-0BA2-4274-9A14-702F8BA5D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6270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CED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F68BE8B-5D12-4CE2-96D3-1774A04FCE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77000"/>
            <a:ext cx="3810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8A949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8A949F"/>
                </a:solidFill>
                <a:latin typeface="Microsoft YaHei"/>
                <a:ea typeface="Microsoft YaHei"/>
                <a:cs typeface="Microsoft YaHei"/>
              </a:rPr>
              <a:t>毕业论文中期检查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7D840DE-B0E9-49CC-9526-BA525BE58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48425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8A949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8A949F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6DAF397-FEA6-4FCB-BB8C-1F5D6815E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19250"/>
            <a:ext cx="8953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rPr>
              <a:t>以“输入一个词”为最小实验单元，观察 AI 结果能否被结构化、被保存、被复习。</a:t>
            </a:r>
          </a:p>
        </p:txBody>
      </p:sp>
      <p:cxnSp>
        <p:nvCxnSpPr>
          <p:cNvPr id="33" name=""/>
          <p:cNvCxnSpPr/>
          <p:nvPr/>
        </p:nvCxnSpPr>
        <p:spPr>
          <a:xfrm xmlns:a="http://schemas.openxmlformats.org/drawingml/2006/main">
            <a:off x="1619250" y="3600450"/>
            <a:ext cx="2362200" cy="9525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3D8DFF"/>
            </a:solidFill>
            <a:prstDash val="solid"/>
          </a:ln>
        </p:spPr>
      </p:cxnSp>
      <p:cxnSp>
        <p:nvCxnSpPr>
          <p:cNvPr id="34" name=""/>
          <p:cNvCxnSpPr/>
          <p:nvPr/>
        </p:nvCxnSpPr>
        <p:spPr>
          <a:xfrm xmlns:a="http://schemas.openxmlformats.org/drawingml/2006/main">
            <a:off x="5524500" y="3600450"/>
            <a:ext cx="2362200" cy="9525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3D8DFF"/>
            </a:solidFill>
            <a:prstDash val="solid"/>
          </a:ln>
        </p:spPr>
      </p:cxn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B0E200B-F4E8-4642-B537-5242ADFD0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476500"/>
            <a:ext cx="3524250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F1F4F7"/>
          </a:solidFill>
          <a:ln xmlns:a="http://schemas.openxmlformats.org/drawingml/2006/main" w="9525">
            <a:solidFill>
              <a:srgbClr val="C7CED6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E593090-8FE9-46F7-A628-8F921E360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0510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FA4919C-93E7-4748-94E8-9C8C71D62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81300"/>
            <a:ext cx="400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322E91E-DD64-4B08-A0D8-C17FDAEF4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76600"/>
            <a:ext cx="3105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018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01820"/>
                </a:solidFill>
                <a:latin typeface="Microsoft YaHei"/>
                <a:ea typeface="Microsoft YaHei"/>
                <a:cs typeface="Microsoft YaHei"/>
              </a:rPr>
              <a:t>AI 生成卡片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53C6B5E-9321-47DF-A810-CE4F22F73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67125"/>
            <a:ext cx="31051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8485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rPr>
              <a:t>归一化词条后调用 Agent，返回结构化学习卡。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F0D4753-CC14-4881-87D1-3738FAB45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476500"/>
            <a:ext cx="3524250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C7CED6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E4B977F-71B6-4AB4-9515-6B7DF9BB3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270510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44C52EA-F479-43BC-A100-63E64CFFA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2781300"/>
            <a:ext cx="400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F948D68-3204-4EC7-85F2-3C5FB925B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3276600"/>
            <a:ext cx="3105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018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01820"/>
                </a:solidFill>
                <a:latin typeface="Microsoft YaHei"/>
                <a:ea typeface="Microsoft YaHei"/>
                <a:cs typeface="Microsoft YaHei"/>
              </a:rPr>
              <a:t>知识资产沉淀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D23F9D6-937E-43D9-ADE0-21E3FC919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3667125"/>
            <a:ext cx="31051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8485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rPr>
              <a:t>公共缓存 + 个人快照，保留个人状态与笔记。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CB475F8-0B0E-4553-BB5D-8A969A8D1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476500"/>
            <a:ext cx="3524250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F1F4F7"/>
          </a:solidFill>
          <a:ln xmlns:a="http://schemas.openxmlformats.org/drawingml/2006/main" w="9525">
            <a:solidFill>
              <a:srgbClr val="C7CED6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39CD07B-FF28-422D-9A74-A2F10ECEA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70510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1D44376-758D-479D-8A60-C6300AD28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781300"/>
            <a:ext cx="400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5E2AA10-B3C0-47B4-9677-DAB66E3C7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3276600"/>
            <a:ext cx="3105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018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01820"/>
                </a:solidFill>
                <a:latin typeface="Microsoft YaHei"/>
                <a:ea typeface="Microsoft YaHei"/>
                <a:cs typeface="Microsoft YaHei"/>
              </a:rPr>
              <a:t>复习与再学习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FBDCA3F-9DE2-4C99-90CD-3D400C04A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3667125"/>
            <a:ext cx="31051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8485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rPr>
              <a:t>艾宾浩斯队列推动复习，并联动文章学习和历史记录。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EF7E74D-514C-4426-A86D-F386884A3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219700"/>
            <a:ext cx="9525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核心评价：链路是否可重复、数据是否可追踪、个人状态是否不被公共缓存覆盖。</a:t>
            </a:r>
          </a:p>
        </p:txBody>
      </p:sp>
    </p:spTree>
    <p:extLst>
      <p:ext uri="{BB962C8B-B14F-4D97-AF65-F5344CB8AC3E}">
        <p14:creationId xmlns:p14="http://schemas.microsoft.com/office/powerpoint/2010/main" val="100188826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1705C0A-75E2-42B3-9201-4F6FC7486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4290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系统方案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356B11D-CD89-42CE-961D-295303B44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"/>
            <a:ext cx="11144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018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101820"/>
                </a:solidFill>
                <a:latin typeface="Microsoft YaHei"/>
                <a:ea typeface="Microsoft YaHei"/>
                <a:cs typeface="Microsoft YaHei"/>
              </a:rPr>
              <a:t>分层架构解耦学习状态与模型供应商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3129613-3AE5-457C-8739-F92BF484D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525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CED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347E9A6-D6E9-4433-A5D9-B14F33688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6270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CED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EE985D4-FE1A-46D9-BC49-9904D8A5B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77000"/>
            <a:ext cx="3810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8A949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8A949F"/>
                </a:solidFill>
                <a:latin typeface="Microsoft YaHei"/>
                <a:ea typeface="Microsoft YaHei"/>
                <a:cs typeface="Microsoft YaHei"/>
              </a:rPr>
              <a:t>毕业论文中期检查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F80F867-2584-4237-84DD-BEA09F772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48425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8A949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8A949F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F2FB7B7-E510-4367-B7BD-2B6F8A1AE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19250"/>
            <a:ext cx="9144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rPr>
              <a:t>分层的目的不是增加复杂度，而是把认证、缓存、学习状态与模型供应商解耦。</a:t>
            </a:r>
          </a:p>
        </p:txBody>
      </p:sp>
      <p:cxnSp>
        <p:nvCxnSpPr>
          <p:cNvPr id="31" name=""/>
          <p:cNvCxnSpPr/>
          <p:nvPr/>
        </p:nvCxnSpPr>
        <p:spPr>
          <a:xfrm xmlns:a="http://schemas.openxmlformats.org/drawingml/2006/main">
            <a:off x="6096000" y="2895600"/>
            <a:ext cx="9525" cy="17145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3D8DFF"/>
            </a:solidFill>
            <a:prstDash val="solid"/>
          </a:ln>
        </p:spPr>
      </p:cxnSp>
      <p:cxnSp>
        <p:nvCxnSpPr>
          <p:cNvPr id="32" name=""/>
          <p:cNvCxnSpPr/>
          <p:nvPr/>
        </p:nvCxnSpPr>
        <p:spPr>
          <a:xfrm xmlns:a="http://schemas.openxmlformats.org/drawingml/2006/main">
            <a:off x="6096000" y="3695700"/>
            <a:ext cx="9525" cy="17145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3D8DFF"/>
            </a:solidFill>
            <a:prstDash val="solid"/>
          </a:ln>
        </p:spPr>
      </p:cxnSp>
      <p:cxnSp>
        <p:nvCxnSpPr>
          <p:cNvPr id="33" name=""/>
          <p:cNvCxnSpPr/>
          <p:nvPr/>
        </p:nvCxnSpPr>
        <p:spPr>
          <a:xfrm xmlns:a="http://schemas.openxmlformats.org/drawingml/2006/main">
            <a:off x="6096000" y="4495800"/>
            <a:ext cx="9525" cy="17145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3D8DFF"/>
            </a:solidFill>
            <a:prstDash val="solid"/>
          </a:ln>
        </p:spPr>
      </p:cxn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FCD680F-C50D-4F39-B408-52FE57EA6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266950"/>
            <a:ext cx="10572750" cy="62865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F1F4F7"/>
          </a:solidFill>
          <a:ln xmlns:a="http://schemas.openxmlformats.org/drawingml/2006/main" w="9525">
            <a:solidFill>
              <a:srgbClr val="C7CED6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07C90C7-07DD-49C3-9728-7F954BE1F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381250"/>
            <a:ext cx="2571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8485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18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01820"/>
                </a:solidFill>
                <a:latin typeface="Microsoft YaHei"/>
                <a:ea typeface="Microsoft YaHei"/>
                <a:cs typeface="Microsoft YaHei"/>
              </a:rPr>
              <a:t>前端静态应用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C346299-2F2F-4B97-9200-4A75E5785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390775"/>
            <a:ext cx="7239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rPr>
              <a:t>登录 / 个人信息 / 单词本 / 学习 / 复习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E2254DA-9D8C-4490-A2E3-8657967AA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67050"/>
            <a:ext cx="10572750" cy="62865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C7CED6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DFBF822-0DC4-4CF5-B55A-18B9A8D20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181350"/>
            <a:ext cx="2571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8485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Spring Boot API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2BF8A37-58DB-49A7-99CE-AEC6EFBB3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190875"/>
            <a:ext cx="7239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89411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rPr>
              <a:t>Auth + JWT ｜ AI Agent / Prompt ｜ Vocabulary ｜ Wordbook / Review ｜ Article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93E0D83-F69B-48D1-AF07-81BB9BA9D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67150"/>
            <a:ext cx="10572750" cy="62865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F1F4F7"/>
          </a:solidFill>
          <a:ln xmlns:a="http://schemas.openxmlformats.org/drawingml/2006/main" w="9525">
            <a:solidFill>
              <a:srgbClr val="C7CED6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4AD8AB3-9391-46D9-90AB-22C945671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981450"/>
            <a:ext cx="2571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8485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18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01820"/>
                </a:solidFill>
                <a:latin typeface="Microsoft YaHei"/>
                <a:ea typeface="Microsoft YaHei"/>
                <a:cs typeface="Microsoft YaHei"/>
              </a:rPr>
              <a:t>MyBatis-Plus + MySQL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8CC9BCE-921F-4578-83E4-B4F1F7562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990975"/>
            <a:ext cx="7239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rPr>
              <a:t>公共词汇缓存、个人词本快照、复习记录、系统日志、模型配置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71CE515-7736-422F-B3DB-0794B908D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667250"/>
            <a:ext cx="10572750" cy="62865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F1F4F7"/>
          </a:solidFill>
          <a:ln xmlns:a="http://schemas.openxmlformats.org/drawingml/2006/main" w="9525">
            <a:solidFill>
              <a:srgbClr val="C7CED6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3BC0978-679F-40AD-A911-1AF63623F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781550"/>
            <a:ext cx="2571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8485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18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01820"/>
                </a:solidFill>
                <a:latin typeface="Microsoft YaHei"/>
                <a:ea typeface="Microsoft YaHei"/>
                <a:cs typeface="Microsoft YaHei"/>
              </a:rPr>
              <a:t>AI Provider API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D47176B-684B-4D91-8467-7FFCCB375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4791075"/>
            <a:ext cx="7239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5852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rPr>
              <a:t>OpenAI-compatible /chat/completions，支持 DeepSeek、Kimi 等兼容供应商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2FB0C8D-6F6E-45B9-B938-89CE015C85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676900"/>
            <a:ext cx="971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E9B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E9B72"/>
                </a:solidFill>
                <a:latin typeface="Microsoft YaHei"/>
                <a:ea typeface="Microsoft YaHei"/>
                <a:cs typeface="Microsoft YaHei"/>
              </a:rPr>
              <a:t>安全边界：JWT 无状态鉴权；API Key 仅保存 AES-GCM 密文，调用前由后端解密。</a:t>
            </a:r>
          </a:p>
        </p:txBody>
      </p:sp>
    </p:spTree>
    <p:extLst>
      <p:ext uri="{BB962C8B-B14F-4D97-AF65-F5344CB8AC3E}">
        <p14:creationId xmlns:p14="http://schemas.microsoft.com/office/powerpoint/2010/main" val="69945762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DBBDAA6-B4DE-492A-885C-A9AB7F4E6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4290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关键设计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4F7D906-A269-45D3-A3BB-B3F5ADCBE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"/>
            <a:ext cx="11144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018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101820"/>
                </a:solidFill>
                <a:latin typeface="Microsoft YaHei"/>
                <a:ea typeface="Microsoft YaHei"/>
                <a:cs typeface="Microsoft YaHei"/>
              </a:rPr>
              <a:t>AI 能力被约束为可管理的 Agent 与 Prompt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D36C647-5EB8-4A3E-B23D-D13E82422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525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CED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2D7A1A4-8740-48FF-B33A-A8B7E8567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6270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CED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9CF650F-BC1C-431E-956A-D0DD7A7DE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77000"/>
            <a:ext cx="3810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8A949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8A949F"/>
                </a:solidFill>
                <a:latin typeface="Microsoft YaHei"/>
                <a:ea typeface="Microsoft YaHei"/>
                <a:cs typeface="Microsoft YaHei"/>
              </a:rPr>
              <a:t>毕业论文中期检查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1B09A5C-7788-4E46-94F3-48C8E8C58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48425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8A949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8A949F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B86E844-5CD3-4D71-8522-B035FBF1C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19250"/>
            <a:ext cx="5429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0000"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rPr>
              <a:t>把模型调用从业务代码中抽离，形成可配置、可复用、可审计的 AI 层。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EB8877D-15DA-4741-AC6D-70600A5FC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400300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E9B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2E9B72"/>
                </a:solidFill>
                <a:latin typeface="Microsoft YaHei"/>
                <a:ea typeface="Microsoft YaHei"/>
                <a:cs typeface="Microsoft YaHei"/>
              </a:rPr>
              <a:t>已完成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5F02B90-A111-4351-B5BA-4049BCD24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762250"/>
            <a:ext cx="49530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018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01820"/>
                </a:solidFill>
                <a:latin typeface="Microsoft YaHei"/>
                <a:ea typeface="Microsoft YaHei"/>
                <a:cs typeface="Microsoft YaHei"/>
              </a:rPr>
              <a:t>- Agent 配置与多模型优先级</a:t>
            </a:r>
          </a:p>
          <a:p xmlns:a="http://schemas.openxmlformats.org/drawingml/2006/main">
            <a:pPr algn="l">
              <a:defRPr sz="1650" b="0">
                <a:solidFill>
                  <a:srgbClr val="1018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01820"/>
                </a:solidFill>
                <a:latin typeface="Microsoft YaHei"/>
                <a:ea typeface="Microsoft YaHei"/>
                <a:cs typeface="Microsoft YaHei"/>
              </a:rPr>
              <a:t>- Prompt 模板占位符校验</a:t>
            </a:r>
          </a:p>
          <a:p xmlns:a="http://schemas.openxmlformats.org/drawingml/2006/main">
            <a:pPr algn="l">
              <a:defRPr sz="1650" b="0">
                <a:solidFill>
                  <a:srgbClr val="1018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01820"/>
                </a:solidFill>
                <a:latin typeface="Microsoft YaHei"/>
                <a:ea typeface="Microsoft YaHei"/>
                <a:cs typeface="Microsoft YaHei"/>
              </a:rPr>
              <a:t>- 同一学习场景复用一个 ai_chat_session</a:t>
            </a:r>
          </a:p>
          <a:p xmlns:a="http://schemas.openxmlformats.org/drawingml/2006/main">
            <a:pPr algn="l">
              <a:defRPr sz="1650" b="0">
                <a:solidFill>
                  <a:srgbClr val="1018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01820"/>
                </a:solidFill>
                <a:latin typeface="Microsoft YaHei"/>
                <a:ea typeface="Microsoft YaHei"/>
                <a:cs typeface="Microsoft YaHei"/>
              </a:rPr>
              <a:t>- 模型调用记录与系统日志持久化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549CB96-F35C-4346-B948-123989D37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953000"/>
            <a:ext cx="4953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可见证据：Agent 管理页已经呈现模型、学习 Agent、模板与发音配置。</a:t>
            </a:r>
          </a:p>
        </p:txBody>
      </p:sp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23177bd8bac4988"/>
          <a:srcRect xmlns:a="http://schemas.openxmlformats.org/drawingml/2006/main" l="12240" t="0" r="1224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267450" y="1695450"/>
            <a:ext cx="5524500" cy="4114800"/>
          </a:xfrm>
          <a:prstGeom xmlns:a="http://schemas.openxmlformats.org/drawingml/2006/main" prst="roundRect">
            <a:avLst>
              <a:gd name="adj" fmla="val 2315"/>
            </a:avLst>
          </a:prstGeom>
        </p:spPr>
      </p:pic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7B5FE70-0DFC-4B96-BE8B-40634B97B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5905500"/>
            <a:ext cx="552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8A949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8A949F"/>
                </a:solidFill>
                <a:latin typeface="Microsoft YaHei"/>
                <a:ea typeface="Microsoft YaHei"/>
                <a:cs typeface="Microsoft YaHei"/>
              </a:rPr>
              <a:t>前端原型：Agent 管理</a:t>
            </a:r>
          </a:p>
        </p:txBody>
      </p:sp>
    </p:spTree>
    <p:extLst>
      <p:ext uri="{BB962C8B-B14F-4D97-AF65-F5344CB8AC3E}">
        <p14:creationId xmlns:p14="http://schemas.microsoft.com/office/powerpoint/2010/main" val="164765667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19D2B5B-D6C8-46EE-BAD3-4A21D556A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4290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关键设计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99C3109-DAE5-4FF7-8B97-6BC4CEEE3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"/>
            <a:ext cx="11144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018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101820"/>
                </a:solidFill>
                <a:latin typeface="Microsoft YaHei"/>
                <a:ea typeface="Microsoft YaHei"/>
                <a:cs typeface="Microsoft YaHei"/>
              </a:rPr>
              <a:t>公共缓存控成本，个人快照保连续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B6EF7B4-98F3-4566-BA1F-ECEBA90B2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525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CED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244967A-60B9-4BD2-AB55-DB7251C4E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6270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CED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150AF09-106E-4B26-8A10-01506AE2D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77000"/>
            <a:ext cx="3810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8A949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8A949F"/>
                </a:solidFill>
                <a:latin typeface="Microsoft YaHei"/>
                <a:ea typeface="Microsoft YaHei"/>
                <a:cs typeface="Microsoft YaHei"/>
              </a:rPr>
              <a:t>毕业论文中期检查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8FF2CC8-D3D6-47BD-9AAA-4CA1FEB74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48425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8A949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8A949F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  <p:pic>
        <p:nvPicPr>
          <p:cNvPr id="2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15a0722726c4772"/>
          <a:srcRect xmlns:a="http://schemas.openxmlformats.org/drawingml/2006/main" l="9422" t="0" r="9422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00050" y="1714500"/>
            <a:ext cx="5524500" cy="3829050"/>
          </a:xfrm>
          <a:prstGeom xmlns:a="http://schemas.openxmlformats.org/drawingml/2006/main" prst="roundRect">
            <a:avLst>
              <a:gd name="adj" fmla="val 2488"/>
            </a:avLst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FA9AB96-A612-4BDD-8936-3ADD1AF1C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676900"/>
            <a:ext cx="552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8A949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8A949F"/>
                </a:solidFill>
                <a:latin typeface="Microsoft YaHei"/>
                <a:ea typeface="Microsoft YaHei"/>
                <a:cs typeface="Microsoft YaHei"/>
              </a:rPr>
              <a:t>前端原型：单词本管理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AD4FCA1-F948-4BA8-A40D-0643B1A93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84785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设计要点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2112401-B5FD-4141-AE16-31CAC8D1CC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324100"/>
            <a:ext cx="514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ACE9B5D-481D-4F80-80E5-225408DC5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2305050"/>
            <a:ext cx="4324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18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01820"/>
                </a:solidFill>
                <a:latin typeface="Microsoft YaHei"/>
                <a:ea typeface="Microsoft YaHei"/>
                <a:cs typeface="Microsoft YaHei"/>
              </a:rPr>
              <a:t>公共词汇缓存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5EABA3D-3ACF-4FEC-B120-E5C9910AC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2647950"/>
            <a:ext cx="43243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rPr>
              <a:t>按 normalized_term 唯一，优先复用已有 AI 结果，减少重复调用。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6B50990-4C61-46C3-81D7-6C495163C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276600"/>
            <a:ext cx="514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E9B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2E9B72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82A3815-6316-4657-B7A3-464A79EBB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3257550"/>
            <a:ext cx="4324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18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01820"/>
                </a:solidFill>
                <a:latin typeface="Microsoft YaHei"/>
                <a:ea typeface="Microsoft YaHei"/>
                <a:cs typeface="Microsoft YaHei"/>
              </a:rPr>
              <a:t>个人词本快照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A8E69C3-896C-4281-A217-1FA611E93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3600450"/>
            <a:ext cx="43243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rPr>
              <a:t>加入词本时复制学习卡详情，后续再生成不会覆盖个人笔记与状态。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BC5A99A-9A9C-45C1-9D1D-FE225F6E2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229100"/>
            <a:ext cx="514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D96A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D96A7B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B627966-E5DA-4796-A9F0-C1A22BD25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4210050"/>
            <a:ext cx="4324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18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01820"/>
                </a:solidFill>
                <a:latin typeface="Microsoft YaHei"/>
                <a:ea typeface="Microsoft YaHei"/>
                <a:cs typeface="Microsoft YaHei"/>
              </a:rPr>
              <a:t>同一学习场景复用会话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664CC34-9135-416C-909E-AB1347439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4552950"/>
            <a:ext cx="43243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rPr>
              <a:t>英语词汇学习固定 english_vocabulary 主会话，避免每次请求新建会话。</a:t>
            </a:r>
          </a:p>
        </p:txBody>
      </p:sp>
    </p:spTree>
    <p:extLst>
      <p:ext uri="{BB962C8B-B14F-4D97-AF65-F5344CB8AC3E}">
        <p14:creationId xmlns:p14="http://schemas.microsoft.com/office/powerpoint/2010/main" val="69942368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C69F597-9E20-4F15-B43F-CFC6376C2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4290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阶段成果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BBDCC19-EB80-4A47-B21D-F2FFDB725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"/>
            <a:ext cx="11144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018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101820"/>
                </a:solidFill>
                <a:latin typeface="Microsoft YaHei"/>
                <a:ea typeface="Microsoft YaHei"/>
                <a:cs typeface="Microsoft YaHei"/>
              </a:rPr>
              <a:t>中期已完成核心领域与主要交互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F25CBE5-023D-41EE-9C77-568856EA7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525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CED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DD14D3B-43E7-442C-B6D3-3FD0F36BA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6270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CED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5F36FCA-D89E-44BB-BF69-A84A3A034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77000"/>
            <a:ext cx="3810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8A949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8A949F"/>
                </a:solidFill>
                <a:latin typeface="Microsoft YaHei"/>
                <a:ea typeface="Microsoft YaHei"/>
                <a:cs typeface="Microsoft YaHei"/>
              </a:rPr>
              <a:t>毕业论文中期检查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DEB2794-623F-42F4-B199-283E539B9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48425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8A949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8A949F"/>
                </a:solidFill>
                <a:latin typeface="Microsoft YaHei"/>
                <a:ea typeface="Microsoft YaHei"/>
                <a:cs typeface="Microsoft YaHei"/>
              </a:rPr>
              <a:t>07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3F47422-60E3-43AC-92D2-D6C04E167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19250"/>
            <a:ext cx="8191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rPr>
              <a:t>以下为仓库当前可核对的结构化成果，不把代码行数当作完成度。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080947C-9D1F-4125-A514-C2C965E3A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324100"/>
            <a:ext cx="228600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F1F4F7"/>
          </a:solidFill>
          <a:ln xmlns:a="http://schemas.openxmlformats.org/drawingml/2006/main" w="9525">
            <a:solidFill>
              <a:srgbClr val="C7CED6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2F7CFB3-DC89-40EA-B3DD-35E52B8A4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514600"/>
            <a:ext cx="1905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10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25896EA-6AA2-483D-BB40-E7AD9543A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143250"/>
            <a:ext cx="190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rPr>
              <a:t>控制器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8021C66-B443-426A-8287-B97EF8D58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324100"/>
            <a:ext cx="228600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F1F4F7"/>
          </a:solidFill>
          <a:ln xmlns:a="http://schemas.openxmlformats.org/drawingml/2006/main" w="9525">
            <a:solidFill>
              <a:srgbClr val="C7CED6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219C1BA-5A7E-4FFA-898F-13C047911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2514600"/>
            <a:ext cx="1905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15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7F0CC97-F073-49E5-BB1B-FB6101AA2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3143250"/>
            <a:ext cx="190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rPr>
              <a:t>服务类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77599E3-281F-4EB6-82D2-BDFA51910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2324100"/>
            <a:ext cx="228600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F1F4F7"/>
          </a:solidFill>
          <a:ln xmlns:a="http://schemas.openxmlformats.org/drawingml/2006/main" w="9525">
            <a:solidFill>
              <a:srgbClr val="C7CED6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F7BC454-094D-4213-858A-02B26FF28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2514600"/>
            <a:ext cx="1905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2E9B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2E9B72"/>
                </a:solidFill>
                <a:latin typeface="Microsoft YaHei"/>
                <a:ea typeface="Microsoft YaHei"/>
                <a:cs typeface="Microsoft YaHei"/>
              </a:rPr>
              <a:t>18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400C2DC-3152-41E1-92A4-903F6A0F6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3143250"/>
            <a:ext cx="190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rPr>
              <a:t>实体类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26F3B99-CEC4-41C7-B0E5-8666F7400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324100"/>
            <a:ext cx="228600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F1F4F7"/>
          </a:solidFill>
          <a:ln xmlns:a="http://schemas.openxmlformats.org/drawingml/2006/main" w="9525">
            <a:solidFill>
              <a:srgbClr val="C7CED6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A1B9E3D-838A-44C3-B502-539AD815B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2514600"/>
            <a:ext cx="1905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2E9B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2E9B72"/>
                </a:solidFill>
                <a:latin typeface="Microsoft YaHei"/>
                <a:ea typeface="Microsoft YaHei"/>
                <a:cs typeface="Microsoft YaHei"/>
              </a:rPr>
              <a:t>17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0269E8E-2659-4956-83AA-033A09DB1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3143250"/>
            <a:ext cx="190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rPr>
              <a:t>Mapper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DD08864-B865-447D-9A9D-AB4D3B620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829050"/>
            <a:ext cx="228600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F1F4F7"/>
          </a:solidFill>
          <a:ln xmlns:a="http://schemas.openxmlformats.org/drawingml/2006/main" w="9525">
            <a:solidFill>
              <a:srgbClr val="C7CED6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C4002A6-6B40-4CBC-948B-C94270FA0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019550"/>
            <a:ext cx="1905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D96A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D96A7B"/>
                </a:solidFill>
                <a:latin typeface="Microsoft YaHei"/>
                <a:ea typeface="Microsoft YaHei"/>
                <a:cs typeface="Microsoft YaHei"/>
              </a:rPr>
              <a:t>58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A5271A4-4011-429D-B319-3A9D641F2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648200"/>
            <a:ext cx="190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rPr>
              <a:t>API 映射端点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36FFA67-4443-483B-AB81-EC4B44B25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3829050"/>
            <a:ext cx="228600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F1F4F7"/>
          </a:solidFill>
          <a:ln xmlns:a="http://schemas.openxmlformats.org/drawingml/2006/main" w="9525">
            <a:solidFill>
              <a:srgbClr val="C7CED6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CCE1265-0AA5-4848-9A92-B2C9805AB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4019550"/>
            <a:ext cx="1905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D96A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D96A7B"/>
                </a:solidFill>
                <a:latin typeface="Microsoft YaHei"/>
                <a:ea typeface="Microsoft YaHei"/>
                <a:cs typeface="Microsoft YaHei"/>
              </a:rPr>
              <a:t>21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5F58779-32A2-42AE-82BB-F44A0914C6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4648200"/>
            <a:ext cx="190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rPr>
              <a:t>建表语句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7FB1F48-07BE-4723-A1C6-79FBDA22C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3829050"/>
            <a:ext cx="228600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F1F4F7"/>
          </a:solidFill>
          <a:ln xmlns:a="http://schemas.openxmlformats.org/drawingml/2006/main" w="9525">
            <a:solidFill>
              <a:srgbClr val="C7CED6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A1385A7-EA64-4745-BCD6-EC23C44EE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4019550"/>
            <a:ext cx="1905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37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25BB9C2-C38B-4A78-A033-4BB166743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4648200"/>
            <a:ext cx="190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rPr>
              <a:t>DTO 类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4860A95-1066-4C6B-B834-1C6712BD1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3829050"/>
            <a:ext cx="228600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F1F4F7"/>
          </a:solidFill>
          <a:ln xmlns:a="http://schemas.openxmlformats.org/drawingml/2006/main" w="9525">
            <a:solidFill>
              <a:srgbClr val="C7CED6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E031CC8-3E4C-49C7-A885-45E874E10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4019550"/>
            <a:ext cx="1905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8A949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8A949F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7FA3529-C2D1-42D3-881D-5142F1A48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4648200"/>
            <a:ext cx="190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rPr>
              <a:t>测试类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B78ECFB-64E1-412B-8881-6D1F1F334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486400"/>
            <a:ext cx="10096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18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01820"/>
                </a:solidFill>
                <a:latin typeface="Microsoft YaHei"/>
                <a:ea typeface="Microsoft YaHei"/>
                <a:cs typeface="Microsoft YaHei"/>
              </a:rPr>
              <a:t>阶段判断：主链路已具备演示与继续迭代的基础；下一阶段重点从“能运行”转向“可验证、可交付”。</a:t>
            </a:r>
          </a:p>
        </p:txBody>
      </p:sp>
    </p:spTree>
    <p:extLst>
      <p:ext uri="{BB962C8B-B14F-4D97-AF65-F5344CB8AC3E}">
        <p14:creationId xmlns:p14="http://schemas.microsoft.com/office/powerpoint/2010/main" val="27964971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E679AB1-9962-488C-B5AD-987969672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4290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验证结果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E93A607-27CD-4258-AB7F-8EEDEB986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"/>
            <a:ext cx="11144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018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101820"/>
                </a:solidFill>
                <a:latin typeface="Microsoft YaHei"/>
                <a:ea typeface="Microsoft YaHei"/>
                <a:cs typeface="Microsoft YaHei"/>
              </a:rPr>
              <a:t>现有验证覆盖编译、核心服务与前端语法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1A93426-2714-49E2-A874-A423C5943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525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CED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47B674F-8060-421C-873F-478FB4658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6270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CED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0C50B5D-0FE7-4A41-AF41-B29F622C0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77000"/>
            <a:ext cx="3810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8A949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8A949F"/>
                </a:solidFill>
                <a:latin typeface="Microsoft YaHei"/>
                <a:ea typeface="Microsoft YaHei"/>
                <a:cs typeface="Microsoft YaHei"/>
              </a:rPr>
              <a:t>毕业论文中期检查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83EFCE1-6D16-4724-A4BF-BBF72F532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48425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8A949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8A949F"/>
                </a:solidFill>
                <a:latin typeface="Microsoft YaHei"/>
                <a:ea typeface="Microsoft YaHei"/>
                <a:cs typeface="Microsoft YaHei"/>
              </a:rPr>
              <a:t>08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D05AB57-0D28-4787-A9B5-577B72C44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19250"/>
            <a:ext cx="857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rPr>
              <a:t>验证结论不是“全部完成”，而是明确哪些链路已经被实际执行过。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3BFD673-9D2F-4E4B-95FE-AA5DDC66B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0"/>
            <a:ext cx="113919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233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567C97E-F0AF-4F90-A0A4-2B4464D81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409825"/>
            <a:ext cx="190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8485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验证项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B5B7326-8CDB-4589-A4C2-8D7CC25C9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409825"/>
            <a:ext cx="4000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8485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命令 / 范围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C1010F7-9A6F-4C0D-B653-B4050392D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409825"/>
            <a:ext cx="381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8485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中期结论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94251DE-E15A-4423-9DF1-9F507A387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781300"/>
            <a:ext cx="113919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4F7"/>
          </a:solidFill>
          <a:ln xmlns:a="http://schemas.openxmlformats.org/drawingml/2006/main" w="9525">
            <a:solidFill>
              <a:srgbClr val="C7CED6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B231020-1A3E-45D1-A8B4-37D8610C2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9908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018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01820"/>
                </a:solidFill>
                <a:latin typeface="Microsoft YaHei"/>
                <a:ea typeface="Microsoft YaHei"/>
                <a:cs typeface="Microsoft YaHei"/>
              </a:rPr>
              <a:t>后端编译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BBFCE65-2C1A-46DD-8DCB-0A0E9EE8E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99085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rPr>
              <a:t>mvn -q -DskipTests compile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06E304E-468E-43F1-96A1-835CAE618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990850"/>
            <a:ext cx="381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2E9B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2E9B72"/>
                </a:solidFill>
                <a:latin typeface="Microsoft YaHei"/>
                <a:ea typeface="Microsoft YaHei"/>
                <a:cs typeface="Microsoft YaHei"/>
              </a:rPr>
              <a:t>通过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7D62ADB-7008-4A7B-82E0-08C7639B2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505200"/>
            <a:ext cx="113919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CED6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FCE165E-C5A8-4B07-A45A-6A3B76D08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7147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018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01820"/>
                </a:solidFill>
                <a:latin typeface="Microsoft YaHei"/>
                <a:ea typeface="Microsoft YaHei"/>
                <a:cs typeface="Microsoft YaHei"/>
              </a:rPr>
              <a:t>核心服务测试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5D5985F-E604-4910-8537-26C4F32B3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371475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rPr>
              <a:t>WordbookServiceScheduleTest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09F8F3B-3650-43B5-B296-C11FA3C97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714750"/>
            <a:ext cx="381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2E9B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2E9B72"/>
                </a:solidFill>
                <a:latin typeface="Microsoft YaHei"/>
                <a:ea typeface="Microsoft YaHei"/>
                <a:cs typeface="Microsoft YaHei"/>
              </a:rPr>
              <a:t>通过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5A1B5DE-032B-49D4-AE33-32C6327E7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229100"/>
            <a:ext cx="113919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4F7"/>
          </a:solidFill>
          <a:ln xmlns:a="http://schemas.openxmlformats.org/drawingml/2006/main" w="9525">
            <a:solidFill>
              <a:srgbClr val="C7CED6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20694DB-5F02-4467-9BAF-AD666ADA7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4386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018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01820"/>
                </a:solidFill>
                <a:latin typeface="Microsoft YaHei"/>
                <a:ea typeface="Microsoft YaHei"/>
                <a:cs typeface="Microsoft YaHei"/>
              </a:rPr>
              <a:t>前端语法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82C4A78-001D-4645-90DE-CA1C16D92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443865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rPr>
              <a:t>node --check public/app.js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28F99BC-C960-4954-ACA8-2446359EB9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438650"/>
            <a:ext cx="381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2E9B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2E9B72"/>
                </a:solidFill>
                <a:latin typeface="Microsoft YaHei"/>
                <a:ea typeface="Microsoft YaHei"/>
                <a:cs typeface="Microsoft YaHei"/>
              </a:rPr>
              <a:t>通过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13C9151-E7F7-4462-B45E-41D767B82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953000"/>
            <a:ext cx="113919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CED6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42E9C53-AAF8-4630-8063-09E5355D0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1625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018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01820"/>
                </a:solidFill>
                <a:latin typeface="Microsoft YaHei"/>
                <a:ea typeface="Microsoft YaHei"/>
                <a:cs typeface="Microsoft YaHei"/>
              </a:rPr>
              <a:t>交互原型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BCC3851-D48A-4924-A00E-4A11896B9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516255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rPr>
              <a:t>登录 / 词本 / 学习 / 复习页面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7450C9B-B78E-4B7C-9489-B7F5AE2E6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5162550"/>
            <a:ext cx="381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已形成可演示版本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DD6E9D4-75F8-4D11-B200-75F699513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791200"/>
            <a:ext cx="1066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D96A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D96A7B"/>
                </a:solidFill>
                <a:latin typeface="Microsoft YaHei"/>
                <a:ea typeface="Microsoft YaHei"/>
                <a:cs typeface="Microsoft YaHei"/>
              </a:rPr>
              <a:t>证据边界：当前验证以编译、核心服务和语法检查为主，端到端、性能与真实模型稳定性仍需补强。</a:t>
            </a:r>
          </a:p>
        </p:txBody>
      </p:sp>
    </p:spTree>
    <p:extLst>
      <p:ext uri="{BB962C8B-B14F-4D97-AF65-F5344CB8AC3E}">
        <p14:creationId xmlns:p14="http://schemas.microsoft.com/office/powerpoint/2010/main" val="379140702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FC1185B-BE95-4839-97E6-B5B869119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4290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问题与对策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F000EAA-8583-48EA-909D-C13CA1EC3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"/>
            <a:ext cx="11144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018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101820"/>
                </a:solidFill>
                <a:latin typeface="Microsoft YaHei"/>
                <a:ea typeface="Microsoft YaHei"/>
                <a:cs typeface="Microsoft YaHei"/>
              </a:rPr>
              <a:t>主要风险集中在验证深度与可维护性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CBE1C85-A22D-4A34-8C67-D59588693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525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CED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D8A386B-B781-45F7-B1F2-C8F927420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6270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CED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59BFA32-A249-4681-BE33-CD2FA4108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77000"/>
            <a:ext cx="3810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8A949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8A949F"/>
                </a:solidFill>
                <a:latin typeface="Microsoft YaHei"/>
                <a:ea typeface="Microsoft YaHei"/>
                <a:cs typeface="Microsoft YaHei"/>
              </a:rPr>
              <a:t>毕业论文中期检查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D962E28-860E-44C0-A489-BBA00559F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48425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8A949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8A949F"/>
                </a:solidFill>
                <a:latin typeface="Microsoft YaHei"/>
                <a:ea typeface="Microsoft YaHei"/>
                <a:cs typeface="Microsoft YaHei"/>
              </a:rPr>
              <a:t>09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8845A96-D7F3-4F3D-9885-A08797F85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943100"/>
            <a:ext cx="781050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1F4F7"/>
          </a:solidFill>
          <a:ln xmlns:a="http://schemas.openxmlformats.org/drawingml/2006/main" w="9525">
            <a:solidFill>
              <a:srgbClr val="C7CED6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5F6CA87-560A-4E30-BFE8-071A7D372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943100"/>
            <a:ext cx="762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6A7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9D22AED-0902-4D39-8447-020376D73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5740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18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01820"/>
                </a:solidFill>
                <a:latin typeface="Microsoft YaHei"/>
                <a:ea typeface="Microsoft YaHei"/>
                <a:cs typeface="Microsoft YaHei"/>
              </a:rPr>
              <a:t>测试覆盖偏窄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28B65EF-7082-41CE-80B8-D18B1F50A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2038350"/>
            <a:ext cx="5429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rPr>
              <a:t>端到端覆盖不足，关键异常链路仍未验证。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72C9D51-0286-42AD-AB12-F459E004A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2314575"/>
            <a:ext cx="5429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018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01820"/>
                </a:solidFill>
                <a:latin typeface="Microsoft YaHei"/>
                <a:ea typeface="Microsoft YaHei"/>
                <a:cs typeface="Microsoft YaHei"/>
              </a:rPr>
              <a:t>应对：补鉴权、缓存、复习、文章学习测试。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E0440C8-92D1-4C0C-8835-BC72FEC31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19400"/>
            <a:ext cx="781050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1F4F7"/>
          </a:solidFill>
          <a:ln xmlns:a="http://schemas.openxmlformats.org/drawingml/2006/main" w="9525">
            <a:solidFill>
              <a:srgbClr val="C7CED6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C8EFD67-D351-4DEC-B88A-4E0A3628F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19400"/>
            <a:ext cx="762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E8B0E4C-8088-46BB-A1B4-0D91FDCCF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93370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18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01820"/>
                </a:solidFill>
                <a:latin typeface="Microsoft YaHei"/>
                <a:ea typeface="Microsoft YaHei"/>
                <a:cs typeface="Microsoft YaHei"/>
              </a:rPr>
              <a:t>数据库演进成本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8D8E8D8-C9F5-4C39-B14C-A8381A264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2914650"/>
            <a:ext cx="5429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rPr>
              <a:t>SQL 仍靠初始化与补丁文件维护。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67110D9-29B0-44B4-A386-350349093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3190875"/>
            <a:ext cx="5429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018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01820"/>
                </a:solidFill>
                <a:latin typeface="Microsoft YaHei"/>
                <a:ea typeface="Microsoft YaHei"/>
                <a:cs typeface="Microsoft YaHei"/>
              </a:rPr>
              <a:t>应对：整理迁移边界，验证新库与升级库。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C597B97-8426-45A4-9488-C5F1E0D08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95700"/>
            <a:ext cx="781050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1F4F7"/>
          </a:solidFill>
          <a:ln xmlns:a="http://schemas.openxmlformats.org/drawingml/2006/main" w="9525">
            <a:solidFill>
              <a:srgbClr val="C7CED6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7A6E0DF-2BD3-4A37-ADFC-20471C73C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95700"/>
            <a:ext cx="762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9B7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3A41C03-F67C-4819-8B20-DA85C394E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1000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18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01820"/>
                </a:solidFill>
                <a:latin typeface="Microsoft YaHei"/>
                <a:ea typeface="Microsoft YaHei"/>
                <a:cs typeface="Microsoft YaHei"/>
              </a:rPr>
              <a:t>模型输出波动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72344FF-609B-4100-90BB-220A4844F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3790950"/>
            <a:ext cx="5429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rPr>
              <a:t>不同供应商的输出结构可能波动。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F121096-B889-48AB-BD28-87D2DD01E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4067175"/>
            <a:ext cx="5429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018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01820"/>
                </a:solidFill>
                <a:latin typeface="Microsoft YaHei"/>
                <a:ea typeface="Microsoft YaHei"/>
                <a:cs typeface="Microsoft YaHei"/>
              </a:rPr>
              <a:t>应对：加强模板校验、JSON 兜底与失败日志。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1B7BA09-89A1-4D15-B44B-A30DE418A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572000"/>
            <a:ext cx="781050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1F4F7"/>
          </a:solidFill>
          <a:ln xmlns:a="http://schemas.openxmlformats.org/drawingml/2006/main" w="9525">
            <a:solidFill>
              <a:srgbClr val="C7CED6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3E7BFB4-40BA-4F30-8BAB-38D95E217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572000"/>
            <a:ext cx="762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A949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B4DB942-5270-4D5B-BBBA-E74F4306A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68630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18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01820"/>
                </a:solidFill>
                <a:latin typeface="Microsoft YaHei"/>
                <a:ea typeface="Microsoft YaHei"/>
                <a:cs typeface="Microsoft YaHei"/>
              </a:rPr>
              <a:t>功能范围扩张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6D633FC-5751-40CA-9362-F0929E836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4667250"/>
            <a:ext cx="5429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rPr>
              <a:t>批量导入、测验与错题本尚未实现。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7069979-471B-4C54-BB27-B03D8BE2A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4943475"/>
            <a:ext cx="5429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018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01820"/>
                </a:solidFill>
                <a:latin typeface="Microsoft YaHei"/>
                <a:ea typeface="Microsoft YaHei"/>
                <a:cs typeface="Microsoft YaHei"/>
              </a:rPr>
              <a:t>应对：先验证词汇闭环，再做范围内扩展。</a:t>
            </a:r>
          </a:p>
        </p:txBody>
      </p:sp>
      <p:pic>
        <p:nvPicPr>
          <p:cNvPr id="5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94e5847a3154160"/>
          <a:srcRect xmlns:a="http://schemas.openxmlformats.org/drawingml/2006/main" l="19232" t="0" r="19232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686800" y="1943100"/>
            <a:ext cx="3105150" cy="2838450"/>
          </a:xfrm>
          <a:prstGeom xmlns:a="http://schemas.openxmlformats.org/drawingml/2006/main" prst="roundRect">
            <a:avLst>
              <a:gd name="adj" fmla="val 3356"/>
            </a:avLst>
          </a:prstGeom>
        </p:spPr>
      </p:pic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398E731-4137-48AA-9B8C-F3C0180EC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4972050"/>
            <a:ext cx="31051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已有交互约束：删除操作使用二次确认。</a:t>
            </a:r>
          </a:p>
        </p:txBody>
      </p:sp>
    </p:spTree>
    <p:extLst>
      <p:ext uri="{BB962C8B-B14F-4D97-AF65-F5344CB8AC3E}">
        <p14:creationId xmlns:p14="http://schemas.microsoft.com/office/powerpoint/2010/main" val="464020282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F8D6CC6-A061-4AEB-9575-055506522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4290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后续计划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472485C-C5D9-40C1-A471-E8C3BAD28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"/>
            <a:ext cx="11144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018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101820"/>
                </a:solidFill>
                <a:latin typeface="Microsoft YaHei"/>
                <a:ea typeface="Microsoft YaHei"/>
                <a:cs typeface="Microsoft YaHei"/>
              </a:rPr>
              <a:t>下一阶段：补验证、稳数据、做论文证据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1239209-42E8-42FB-B806-F0144D832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525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CED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A0D0C83-2587-4865-831E-FC3FC1CD3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6270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CED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F207348-7368-4D58-A844-036EF631D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77000"/>
            <a:ext cx="3810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8A949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8A949F"/>
                </a:solidFill>
                <a:latin typeface="Microsoft YaHei"/>
                <a:ea typeface="Microsoft YaHei"/>
                <a:cs typeface="Microsoft YaHei"/>
              </a:rPr>
              <a:t>毕业论文中期检查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FE7A957-31AC-491D-B025-C24957DA0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48425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8A949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8A949F"/>
                </a:solidFill>
                <a:latin typeface="Microsoft YaHei"/>
                <a:ea typeface="Microsoft YaHei"/>
                <a:cs typeface="Microsoft YaHei"/>
              </a:rPr>
              <a:t>10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5E0DA21-C2D0-4531-9A01-BEDCB19E3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19250"/>
            <a:ext cx="7620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rPr>
              <a:t>时间以中期检查后的阶段计，不绑定尚未确认的学校截止日期。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E086732-E9B9-49D0-894F-4440FB1CF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038350"/>
            <a:ext cx="1762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rPr>
              <a:t>第 1–2 周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1912793-C873-4245-BFF8-AC6A0A27B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324100"/>
            <a:ext cx="1762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CED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A204947-2279-4FDE-B3FD-900E47E5A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2038350"/>
            <a:ext cx="1762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rPr>
              <a:t>第 3–4 周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8C58113-87FF-4245-B8D8-DE1BD42F9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2324100"/>
            <a:ext cx="1762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CED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A252EAC-E5D8-494A-8617-FBBCFCE54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038350"/>
            <a:ext cx="1762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rPr>
              <a:t>第 5–6 周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C966F58-648D-47AD-9AF5-7D29849CF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324100"/>
            <a:ext cx="1762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CED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2DC333B-D2C6-4D4E-A466-345BA2951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2038350"/>
            <a:ext cx="1762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rPr>
              <a:t>第 7 周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90002E7-AAF8-4905-AB79-578B4F2EA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2324100"/>
            <a:ext cx="1762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CED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A79380C-550D-4A73-9AD8-34EBA5DC0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4955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18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01820"/>
                </a:solidFill>
                <a:latin typeface="Microsoft YaHei"/>
                <a:ea typeface="Microsoft YaHei"/>
                <a:cs typeface="Microsoft YaHei"/>
              </a:rPr>
              <a:t>测试补齐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A301692-A196-4DC1-BAE0-D34DA864C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362200"/>
            <a:ext cx="33337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6186B74-385A-48C6-8E29-3CBAF6B4B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2476500"/>
            <a:ext cx="3105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鉴权 / 缓存 / 复习 / 文章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AAAEB81-76DD-4D31-8805-6A1AB7987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009900"/>
            <a:ext cx="1066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CED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837556D-6536-446B-AD9F-2A4D7645A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18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01820"/>
                </a:solidFill>
                <a:latin typeface="Microsoft YaHei"/>
                <a:ea typeface="Microsoft YaHei"/>
                <a:cs typeface="Microsoft YaHei"/>
              </a:rPr>
              <a:t>数据演进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E998B7E-BA12-43E0-9C1E-245F2AE24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3105150"/>
            <a:ext cx="1571625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2E9B7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224BDA0-8E07-4457-B209-E2F775F37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9175" y="3219450"/>
            <a:ext cx="13430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61761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迁移边界 + 初始化验证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2459DB1-8911-48E8-9D4C-B174BBE06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752850"/>
            <a:ext cx="1066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CED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2142618-D05A-46B7-AEBE-F5974DE13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9814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18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01820"/>
                </a:solidFill>
                <a:latin typeface="Microsoft YaHei"/>
                <a:ea typeface="Microsoft YaHei"/>
                <a:cs typeface="Microsoft YaHei"/>
              </a:rPr>
              <a:t>体验打磨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779F532-36B0-4936-8FB3-BD8FDB723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3848100"/>
            <a:ext cx="33337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6DCB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CFA3F5B-9904-47A2-AFCC-A43AB0FD9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9175" y="3962400"/>
            <a:ext cx="3105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018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01820"/>
                </a:solidFill>
                <a:latin typeface="Microsoft YaHei"/>
                <a:ea typeface="Microsoft YaHei"/>
                <a:cs typeface="Microsoft YaHei"/>
              </a:rPr>
              <a:t>错误提示 + 移动端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8875E38-3CB0-4424-9725-91C4B97C7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495800"/>
            <a:ext cx="1066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CED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B2B0EBD-55EA-4187-99A4-344D97A6A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72440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18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01820"/>
                </a:solidFill>
                <a:latin typeface="Microsoft YaHei"/>
                <a:ea typeface="Microsoft YaHei"/>
                <a:cs typeface="Microsoft YaHei"/>
              </a:rPr>
              <a:t>论文沉淀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6BB7D54-3990-468D-ACE8-FB7D469D3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591050"/>
            <a:ext cx="33337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D96A7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C3ECCFA-7231-493E-90E1-D07C81FBC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4705350"/>
            <a:ext cx="3105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实验记录 + 论文初稿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70BFF3F-C59E-43B9-B996-18942463E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238750"/>
            <a:ext cx="1066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CED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AA98797-4879-4B0C-AD24-39CD5B020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619750"/>
            <a:ext cx="10668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交付标准：可复现的数据库初始化、可执行的测试记录、可插入论文的系统截图与结果表。</a:t>
            </a:r>
          </a:p>
        </p:txBody>
      </p:sp>
    </p:spTree>
    <p:extLst>
      <p:ext uri="{BB962C8B-B14F-4D97-AF65-F5344CB8AC3E}">
        <p14:creationId xmlns:p14="http://schemas.microsoft.com/office/powerpoint/2010/main" val="943426153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BCD51AC-38F8-4AA4-A2EA-FBD2F80C4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0005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中期结论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AAA2895-BDAA-4F4E-944A-09DE5BC78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9906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79023"/>
          </a:bodyPr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1018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350" b="1">
                <a:solidFill>
                  <a:srgbClr val="101820"/>
                </a:solidFill>
                <a:latin typeface="Microsoft YaHei"/>
                <a:ea typeface="Microsoft YaHei"/>
                <a:cs typeface="Microsoft YaHei"/>
              </a:rPr>
              <a:t>核心闭环已成形，下一阶段转向</a:t>
            </a:r>
          </a:p>
          <a:p xmlns:a="http://schemas.openxmlformats.org/drawingml/2006/main">
            <a:pPr algn="l">
              <a:defRPr sz="4350" b="1">
                <a:solidFill>
                  <a:srgbClr val="1018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350" b="1">
                <a:solidFill>
                  <a:srgbClr val="101820"/>
                </a:solidFill>
                <a:latin typeface="Microsoft YaHei"/>
                <a:ea typeface="Microsoft YaHei"/>
                <a:cs typeface="Microsoft YaHei"/>
              </a:rPr>
              <a:t>验证与交付。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354590C-BF7E-4A8F-ADD2-26359BD86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57550"/>
            <a:ext cx="5334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59831AD-FD30-4CF1-B212-C63C6646B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33800"/>
            <a:ext cx="428625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rPr>
              <a:t>已经完成</a:t>
            </a:r>
          </a:p>
          <a:p xmlns:a="http://schemas.openxmlformats.org/drawingml/2006/main">
            <a:pPr algn="l">
              <a:defRPr sz="1800" b="0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rPr>
              <a:t>- AI 生成与结构化词汇卡</a:t>
            </a:r>
          </a:p>
          <a:p xmlns:a="http://schemas.openxmlformats.org/drawingml/2006/main">
            <a:pPr algn="l">
              <a:defRPr sz="1800" b="0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rPr>
              <a:t>- 单词本与个人学习快照</a:t>
            </a:r>
          </a:p>
          <a:p xmlns:a="http://schemas.openxmlformats.org/drawingml/2006/main">
            <a:pPr algn="l">
              <a:defRPr sz="1800" b="0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rPr>
              <a:t>- 复习队列、文章学习与安全配置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B4F779D-8AD1-4976-B850-7EA8ABD46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733800"/>
            <a:ext cx="428625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rPr>
              <a:t>下一步</a:t>
            </a:r>
          </a:p>
          <a:p xmlns:a="http://schemas.openxmlformats.org/drawingml/2006/main">
            <a:pPr algn="l">
              <a:defRPr sz="1800" b="0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rPr>
              <a:t>- 补齐自动化验证</a:t>
            </a:r>
          </a:p>
          <a:p xmlns:a="http://schemas.openxmlformats.org/drawingml/2006/main">
            <a:pPr algn="l">
              <a:defRPr sz="1800" b="0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rPr>
              <a:t>- 固化数据库迁移与演示数据</a:t>
            </a:r>
          </a:p>
          <a:p xmlns:a="http://schemas.openxmlformats.org/drawingml/2006/main">
            <a:pPr algn="l">
              <a:defRPr sz="1800" b="0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rPr>
              <a:t>- 完成实验记录与论文正文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2F792A3-1673-451E-B9B6-D767902F9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19800"/>
            <a:ext cx="952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请老师指导：验证指标选择、论文实验设计、后续范围控制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45D6EFE-CDF7-40D6-A785-D7B319413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10300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8A949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8A949F"/>
                </a:solidFill>
                <a:latin typeface="Microsoft YaHei"/>
                <a:ea typeface="Microsoft YaHei"/>
                <a:cs typeface="Microsoft YaHei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99763768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2026-08-15T03:35:21.9580000Z</dcterms:created>
  <dcterms:modified xsi:type="dcterms:W3CDTF">2026-08-15T03:35:21.9580000Z</dcterms:modified>
</coreProperties>
</file>