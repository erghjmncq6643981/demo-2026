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项目设计文档：docs/english-vocabulary-learning-assistant-design.md</a:t>
            </a:r>
          </a:p>
          <a:p>
            <a:r>
              <a:t>版式参考：Codex Grid Layout Library slide-01（本页未使用外部图片）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1 节：背景与目标</a:t>
            </a:r>
          </a:p>
          <a:p>
            <a:r>
              <a:t>项目设计文档第 2 节：当前实现范围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1 节：第一阶段闭环定义</a:t>
            </a:r>
          </a:p>
          <a:p>
            <a:r>
              <a:t>项目设计文档第 4、5、6 节：词汇学习、单词本、复习流程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3 节：系统架构</a:t>
            </a:r>
          </a:p>
          <a:p>
            <a:r>
              <a:t>项目设计文档第 9 节：安全与成本控制</a:t>
            </a:r>
          </a:p>
          <a:p>
            <a:r>
              <a:t>pom.xml：Spring Boot 3.3.6、Java 17、MyBatis-Plus、MySQL 依赖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1、2、7 节：Agent、Prompt、模型配置与会话规则</a:t>
            </a:r>
          </a:p>
          <a:p>
            <a:r>
              <a:t>界面截图：chandler26-jdk17-learning-assistant-web/docs/images/02-agent-management.jpg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1 节：缓存与会话规则</a:t>
            </a:r>
          </a:p>
          <a:p>
            <a:r>
              <a:t>项目设计文档第 5 节：单词本词条个人学习卡快照</a:t>
            </a:r>
          </a:p>
          <a:p>
            <a:r>
              <a:t>界面截图：chandler26-jdk17-learning-assistant-web/docs/images/04-wordbook-detail.jpg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仓库结构统计（2026-08-15）：src/main/java、src/main/resources/db、src/test/java</a:t>
            </a:r>
          </a:p>
          <a:p>
            <a:r>
              <a:t>项目设计文档第 2 节：已实现范围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10 节：验证结果</a:t>
            </a:r>
          </a:p>
          <a:p>
            <a:r>
              <a:t>项目设计文档第 2 节：暂未实现与验证边界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2 节：暂未实现</a:t>
            </a:r>
          </a:p>
          <a:p>
            <a:r>
              <a:t>项目设计文档第 9 节：安全与成本控制</a:t>
            </a:r>
          </a:p>
          <a:p>
            <a:r>
              <a:t>界面截图：chandler26-jdk17-learning-assistant-web/docs/images/06-confirm-dialog.jpg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项目设计文档第 11 节：后续迭代</a:t>
            </a:r>
          </a:p>
          <a:p>
            <a:r>
              <a:t>时间安排为本次中期汇报的执行建议，不引用外部日历数据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本页为项目设计文档第 2、10、11 节的中期综合结论</a:t>
            </a:r>
          </a:p>
          <a:p>
            <a:r>
              <a:t>未使用外部图片或外部事实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400050" y="4000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7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9144000" y="0"/>
            <a:ext cx="3048000" cy="6858000"/>
          </a:xfrm>
          <a:prstGeom prst="rect">
            <a:avLst/>
          </a:prstGeom>
          <a:solidFill>
            <a:srgbClr val="132338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9144000" y="0"/>
            <a:ext cx="171450" cy="68580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85800" y="1790700"/>
            <a:ext cx="7810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00"/>
          </a:bodyPr>
          <a:lstStyle/>
          <a:p>
            <a:pPr algn="l">
              <a:defRPr sz="52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52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基于大模型</a:t>
            </a:r>
            <a:r>
              <a:rPr lang="zh-CN" altLang="en-US" sz="52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的</a:t>
            </a:r>
            <a:r>
              <a:rPr sz="52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英语学习助手</a:t>
            </a:r>
            <a:endParaRPr sz="52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3048000"/>
            <a:ext cx="7715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4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基于 Spring Boot 与大模型的个性化学习系统设计与实现</a:t>
            </a:r>
            <a:endParaRPr sz="24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4057650"/>
            <a:ext cx="533400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4572000"/>
            <a:ext cx="5334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汇报人：</a:t>
            </a:r>
            <a:r>
              <a:rPr lang="zh-CN"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钱丁君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621030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endParaRPr sz="1275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239500" y="62103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200" b="0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200" b="0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研究背景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研究问题：让 AI 生成结果进入持续学习闭环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7905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00"/>
          </a:bodyPr>
          <a:lstStyle/>
          <a:p>
            <a:pPr algn="l">
              <a:defRPr sz="1875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通用聊天工具可以给出答案，但难以把答案变成可追踪、可复习、可积累的个人知识资产。</a:t>
            </a:r>
            <a:endParaRPr sz="1875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2476500"/>
            <a:ext cx="5143500" cy="2781300"/>
          </a:xfrm>
          <a:prstGeom prst="roundRect">
            <a:avLst>
              <a:gd name="adj" fmla="val 2740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27241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现有痛点</a:t>
            </a:r>
            <a:endParaRPr sz="1125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85800" y="318135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314450" y="316230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生成内容难沉淀</a:t>
            </a:r>
            <a:endParaRPr sz="18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314450" y="3505200"/>
            <a:ext cx="3657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查词结果停留在一次性对话，复习入口不连续。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85800" y="40386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314450" y="4019550"/>
            <a:ext cx="3657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学习进度难贴合</a:t>
            </a:r>
            <a:endParaRPr sz="18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314450" y="4362450"/>
            <a:ext cx="36576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同一个词条没有个人熟悉度、笔记和复习节奏。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6153150" y="2476500"/>
            <a:ext cx="5638800" cy="2781300"/>
          </a:xfrm>
          <a:prstGeom prst="roundRect">
            <a:avLst>
              <a:gd name="adj" fmla="val 2740"/>
            </a:avLst>
          </a:prstGeom>
          <a:solidFill>
            <a:srgbClr val="132338"/>
          </a:solidFill>
          <a:ln w="9525">
            <a:solidFill>
              <a:srgbClr val="13233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438900" y="27241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论文问题</a:t>
            </a:r>
            <a:endParaRPr sz="1125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38900" y="3162300"/>
            <a:ext cx="4762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43"/>
          </a:bodyPr>
          <a:lstStyle/>
          <a:p>
            <a:pPr algn="l">
              <a:defRPr sz="24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4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如何把 AI 生成、个人词本与间隔复习组织成一个可运行的学习闭环？</a:t>
            </a:r>
            <a:endParaRPr sz="24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38900" y="4476750"/>
            <a:ext cx="4762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D7E6F4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D7E6F4"/>
                </a:solidFill>
                <a:latin typeface="微软雅黑"/>
                <a:ea typeface="微软雅黑"/>
                <a:cs typeface="微软雅黑"/>
              </a:rPr>
              <a:t>研究对象：英语词汇学习场景</a:t>
            </a:r>
            <a:endParaRPr sz="1425" b="0">
              <a:solidFill>
                <a:srgbClr val="D7E6F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研究内容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研究范围聚焦一条可验证的学习闭环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8953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以“输入一个词”为最小实验单元，观察 AI 结果能否被结构化、被保存、被复习。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33" name="直接箭头连接符 32"/>
          <p:cNvCxnSpPr/>
          <p:nvPr/>
        </p:nvCxnSpPr>
        <p:spPr>
          <a:xfrm>
            <a:off x="1619250" y="3600450"/>
            <a:ext cx="2362200" cy="9525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4" name="直接箭头连接符 33"/>
          <p:cNvCxnSpPr/>
          <p:nvPr/>
        </p:nvCxnSpPr>
        <p:spPr>
          <a:xfrm>
            <a:off x="5524500" y="3600450"/>
            <a:ext cx="2362200" cy="9525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10" name="圆角矩形 9"/>
          <p:cNvSpPr>
            <a:spLocks noGrp="1"/>
          </p:cNvSpPr>
          <p:nvPr/>
        </p:nvSpPr>
        <p:spPr>
          <a:xfrm>
            <a:off x="400050" y="2476500"/>
            <a:ext cx="3524250" cy="1809750"/>
          </a:xfrm>
          <a:prstGeom prst="roundRect">
            <a:avLst>
              <a:gd name="adj" fmla="val 421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1" name="椭圆 10"/>
          <p:cNvSpPr>
            <a:spLocks noGrp="1"/>
          </p:cNvSpPr>
          <p:nvPr/>
        </p:nvSpPr>
        <p:spPr>
          <a:xfrm>
            <a:off x="609600" y="2705100"/>
            <a:ext cx="400050" cy="40005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09600" y="27813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09600" y="3276600"/>
            <a:ext cx="3105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AI 生成卡片</a:t>
            </a:r>
            <a:endParaRPr sz="18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09600" y="3667125"/>
            <a:ext cx="3105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归一化词条后调用 Agent，返回结构化学习卡。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4324350" y="2476500"/>
            <a:ext cx="3524250" cy="1809750"/>
          </a:xfrm>
          <a:prstGeom prst="roundRect">
            <a:avLst>
              <a:gd name="adj" fmla="val 4211"/>
            </a:avLst>
          </a:prstGeom>
          <a:solidFill>
            <a:srgbClr val="EAF5FB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6" name="椭圆 15"/>
          <p:cNvSpPr>
            <a:spLocks noGrp="1"/>
          </p:cNvSpPr>
          <p:nvPr/>
        </p:nvSpPr>
        <p:spPr>
          <a:xfrm>
            <a:off x="4533900" y="2705100"/>
            <a:ext cx="400050" cy="40005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533900" y="27813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533900" y="3276600"/>
            <a:ext cx="3105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知识资产沉淀</a:t>
            </a:r>
            <a:endParaRPr sz="18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533900" y="3667125"/>
            <a:ext cx="3105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公共缓存 + 个人快照，保留个人状态与笔记。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8248650" y="2476500"/>
            <a:ext cx="3524250" cy="1809750"/>
          </a:xfrm>
          <a:prstGeom prst="roundRect">
            <a:avLst>
              <a:gd name="adj" fmla="val 421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1" name="椭圆 20"/>
          <p:cNvSpPr>
            <a:spLocks noGrp="1"/>
          </p:cNvSpPr>
          <p:nvPr/>
        </p:nvSpPr>
        <p:spPr>
          <a:xfrm>
            <a:off x="8458200" y="2705100"/>
            <a:ext cx="400050" cy="40005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458200" y="2781300"/>
            <a:ext cx="400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458200" y="3276600"/>
            <a:ext cx="3105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复习与再学习</a:t>
            </a:r>
            <a:endParaRPr sz="18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458200" y="3667125"/>
            <a:ext cx="3105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艾宾浩斯队列推动复习，并联动文章学习和历史记录。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00050" y="521970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核心评价：链路是否可重复、数据是否可追踪、个人状态是否不被公共缓存覆盖。</a:t>
            </a:r>
            <a:endParaRPr sz="16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系统方案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分层架构解耦学习状态与模型供应商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914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分层的目的不是增加复杂度，而是把认证、缓存、学习状态与模型供应商解耦。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cxnSp>
        <p:nvCxnSpPr>
          <p:cNvPr id="31" name="直接箭头连接符 30"/>
          <p:cNvCxnSpPr/>
          <p:nvPr/>
        </p:nvCxnSpPr>
        <p:spPr>
          <a:xfrm>
            <a:off x="6096000" y="2895600"/>
            <a:ext cx="9525" cy="17145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2" name="直接箭头连接符 31"/>
          <p:cNvCxnSpPr/>
          <p:nvPr/>
        </p:nvCxnSpPr>
        <p:spPr>
          <a:xfrm>
            <a:off x="6096000" y="3695700"/>
            <a:ext cx="9525" cy="17145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cxnSp>
        <p:nvCxnSpPr>
          <p:cNvPr id="33" name="直接箭头连接符 32"/>
          <p:cNvCxnSpPr/>
          <p:nvPr/>
        </p:nvCxnSpPr>
        <p:spPr>
          <a:xfrm>
            <a:off x="6096000" y="4495800"/>
            <a:ext cx="9525" cy="171450"/>
          </a:xfrm>
          <a:prstGeom prst="straightConnector1">
            <a:avLst/>
          </a:prstGeom>
          <a:ln w="28575">
            <a:solidFill>
              <a:srgbClr val="3D8DFF"/>
            </a:solidFill>
            <a:prstDash val="solid"/>
          </a:ln>
        </p:spPr>
      </p:cxnSp>
      <p:sp>
        <p:nvSpPr>
          <p:cNvPr id="11" name="圆角矩形 10"/>
          <p:cNvSpPr>
            <a:spLocks noGrp="1"/>
          </p:cNvSpPr>
          <p:nvPr/>
        </p:nvSpPr>
        <p:spPr>
          <a:xfrm>
            <a:off x="762000" y="2266950"/>
            <a:ext cx="10572750" cy="628650"/>
          </a:xfrm>
          <a:prstGeom prst="roundRect">
            <a:avLst>
              <a:gd name="adj" fmla="val 1212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971550" y="23812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前端静态应用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714750" y="2390775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登录 / 个人信息 / 单词本 / 学习 / 复习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62000" y="3067050"/>
            <a:ext cx="10572750" cy="628650"/>
          </a:xfrm>
          <a:prstGeom prst="roundRect">
            <a:avLst>
              <a:gd name="adj" fmla="val 12121"/>
            </a:avLst>
          </a:prstGeom>
          <a:solidFill>
            <a:srgbClr val="EAF5FB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31813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Spring Boot API</a:t>
            </a:r>
            <a:endParaRPr sz="16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3714750" y="3190875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411"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Auth + JWT ｜ AI Agent / Prompt ｜ Vocabulary ｜ Wordbook / Review ｜ Article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62000" y="3867150"/>
            <a:ext cx="10572750" cy="628650"/>
          </a:xfrm>
          <a:prstGeom prst="roundRect">
            <a:avLst>
              <a:gd name="adj" fmla="val 1212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71550" y="39814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MyBatis-Plus + MySQL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714750" y="3990975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公共词汇缓存、个人词本快照、复习记录、系统日志、模型配置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762000" y="4667250"/>
            <a:ext cx="10572750" cy="628650"/>
          </a:xfrm>
          <a:prstGeom prst="roundRect">
            <a:avLst>
              <a:gd name="adj" fmla="val 1212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71550" y="47815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AI Provider API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714750" y="4791075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852"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OpenAI-compatible /chat/completions，支持 DeepSeek、Kimi 等兼容供应商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62000" y="5676900"/>
            <a:ext cx="971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安全边界：JWT 无状态鉴权；API Key 仅保存 AES-GCM 密文，调用前由后端解密。</a:t>
            </a:r>
            <a:endParaRPr sz="1650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关键设计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AI 能力被约束为可管理的 Agent 与 Prompt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5429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00"/>
          </a:bodyPr>
          <a:lstStyle/>
          <a:p>
            <a:pPr algn="l">
              <a:defRPr sz="1875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把模型调用从业务代码中抽离，形成可配置、可复用、可审计的 AI 层。</a:t>
            </a:r>
            <a:endParaRPr sz="1875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00050" y="2400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已完成</a:t>
            </a:r>
            <a:endParaRPr sz="1125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00050" y="2762250"/>
            <a:ext cx="4953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- Agent 配置与多模型优先级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- Prompt 模板占位符校验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- 同一学习场景复用一个 ai_chat_session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- 模型调用记录与系统日志持久化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00050" y="4953000"/>
            <a:ext cx="4953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可见证据：Agent 管理页已经呈现模型、学习 Agent、模板与发音配置。</a:t>
            </a:r>
            <a:endParaRPr sz="16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267450" y="590550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125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前端原型：Agent 管理</a:t>
            </a:r>
            <a:endParaRPr sz="1125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1855" y="1917065"/>
            <a:ext cx="5659120" cy="29978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关键设计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公共缓存控成本，个人快照保连续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06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00050" y="5676900"/>
            <a:ext cx="552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前端原型：单词本管理</a:t>
            </a:r>
            <a:endParaRPr sz="1125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77000" y="18478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设计要点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477000" y="23241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105650" y="2305050"/>
            <a:ext cx="432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公共词汇缓存</a:t>
            </a:r>
            <a:endParaRPr sz="18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105650" y="2647950"/>
            <a:ext cx="4324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按 normalized_term 唯一，优先复用已有 AI 结果，减少重复调用。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477000" y="32766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105650" y="3257550"/>
            <a:ext cx="432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个人词本快照</a:t>
            </a:r>
            <a:endParaRPr sz="18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105650" y="3600450"/>
            <a:ext cx="4324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加入词本时复制学习卡详情，后续再生成不会覆盖个人笔记与状态。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477000" y="42291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50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05650" y="4210050"/>
            <a:ext cx="432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同一学习场景复用会话</a:t>
            </a:r>
            <a:endParaRPr sz="18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7105650" y="4552950"/>
            <a:ext cx="43243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英语词汇学习固定 english_vocabulary 主会话，避免每次请求新建会话。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" y="1747520"/>
            <a:ext cx="6333490" cy="275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阶段成果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中期已完成核心领域与主要交互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07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8191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以下为仓库当前可核对的结构化成果，不把代码行数当作完成度。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232410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90550" y="25146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36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90550" y="31432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控制器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2895600" y="232410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086100" y="25146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15</a:t>
            </a:r>
            <a:endParaRPr sz="36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086100" y="31432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服务类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5391150" y="232410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581650" y="25146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18</a:t>
            </a:r>
            <a:endParaRPr sz="3600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5581650" y="31432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实体类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886700" y="232410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8077200" y="25146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17</a:t>
            </a:r>
            <a:endParaRPr sz="3600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8077200" y="314325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Mapper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400050" y="382905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90550" y="401955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58</a:t>
            </a:r>
            <a:endParaRPr sz="3600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90550" y="4648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API 映射端点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2895600" y="382905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3086100" y="401955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21</a:t>
            </a:r>
            <a:endParaRPr sz="3600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3086100" y="4648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建表语句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5391150" y="382905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581650" y="401955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37</a:t>
            </a:r>
            <a:endParaRPr sz="36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5581650" y="4648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DTO 类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7886700" y="3829050"/>
            <a:ext cx="2286000" cy="1257300"/>
          </a:xfrm>
          <a:prstGeom prst="roundRect">
            <a:avLst>
              <a:gd name="adj" fmla="val 6061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077200" y="401955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3600" b="1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077200" y="4648200"/>
            <a:ext cx="190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测试类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400050" y="5486400"/>
            <a:ext cx="1009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阶段判断：主链路已具备演示与继续迭代的基础；下一阶段重点从“能运行”转向“可验证、可交付”。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矩形 28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验证结果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现有验证覆盖编译、核心服务与前端语法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08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验证结论不是“全部完成”，而是明确哪些链路已经被实际执行过。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00050" y="2286000"/>
            <a:ext cx="11391900" cy="495300"/>
          </a:xfrm>
          <a:prstGeom prst="rect">
            <a:avLst/>
          </a:prstGeom>
          <a:solidFill>
            <a:srgbClr val="132338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90550" y="2409825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验证项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048000" y="2409825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命令 / 范围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524750" y="2409825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485"/>
          </a:bodyPr>
          <a:lstStyle/>
          <a:p>
            <a:pPr algn="l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中期结论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00050" y="2781300"/>
            <a:ext cx="11391900" cy="723900"/>
          </a:xfrm>
          <a:prstGeom prst="rect">
            <a:avLst/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90550" y="29908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后端编译</a:t>
            </a:r>
            <a:endParaRPr sz="15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048000" y="29908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mvn -q -DskipTests compile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524750" y="299085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通过</a:t>
            </a:r>
            <a:endParaRPr sz="1575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00050" y="3505200"/>
            <a:ext cx="11391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90550" y="37147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核心服务测试</a:t>
            </a:r>
            <a:endParaRPr sz="15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048000" y="37147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WordbookServiceScheduleTest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7524750" y="371475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通过</a:t>
            </a:r>
            <a:endParaRPr sz="1575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00050" y="4229100"/>
            <a:ext cx="11391900" cy="723900"/>
          </a:xfrm>
          <a:prstGeom prst="rect">
            <a:avLst/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90550" y="44386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前端语法</a:t>
            </a:r>
            <a:endParaRPr sz="15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048000" y="44386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node --check public/app.js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524750" y="443865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E9B72"/>
                </a:solidFill>
                <a:latin typeface="微软雅黑"/>
                <a:ea typeface="微软雅黑"/>
                <a:cs typeface="微软雅黑"/>
              </a:rPr>
              <a:t>通过</a:t>
            </a:r>
            <a:endParaRPr sz="1575" b="1">
              <a:solidFill>
                <a:srgbClr val="2E9B7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400050" y="4953000"/>
            <a:ext cx="11391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90550" y="51625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交互原型</a:t>
            </a:r>
            <a:endParaRPr sz="1575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3048000" y="51625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登录 / 词本 / 学习 / 复习页面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524750" y="5162550"/>
            <a:ext cx="381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已形成可演示版本</a:t>
            </a:r>
            <a:endParaRPr sz="157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00050" y="5791200"/>
            <a:ext cx="10668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D96A7B"/>
                </a:solidFill>
                <a:latin typeface="微软雅黑"/>
                <a:ea typeface="微软雅黑"/>
                <a:cs typeface="微软雅黑"/>
              </a:rPr>
              <a:t>证据边界：当前验证以编译、核心服务和语法检查为主，端到端、性能与真实模型稳定性仍需补强。</a:t>
            </a:r>
            <a:endParaRPr sz="1650" b="1">
              <a:solidFill>
                <a:srgbClr val="D96A7B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矩形 28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问题与对策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主要风险集中在验证深度与可维护性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09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00050" y="1943100"/>
            <a:ext cx="7810500" cy="666750"/>
          </a:xfrm>
          <a:prstGeom prst="roundRect">
            <a:avLst>
              <a:gd name="adj" fmla="val 11429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00050" y="1943100"/>
            <a:ext cx="76200" cy="666750"/>
          </a:xfrm>
          <a:prstGeom prst="rect">
            <a:avLst/>
          </a:prstGeom>
          <a:solidFill>
            <a:srgbClr val="D96A7B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2057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测试覆盖偏窄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476500" y="2038350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端到端覆盖不足，关键异常链路仍未验证。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2476500" y="2314575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应对：补鉴权、缓存、复习、文章学习测试。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00050" y="2819400"/>
            <a:ext cx="7810500" cy="666750"/>
          </a:xfrm>
          <a:prstGeom prst="roundRect">
            <a:avLst>
              <a:gd name="adj" fmla="val 11429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00050" y="2819400"/>
            <a:ext cx="76200" cy="6667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66750" y="29337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数据库演进成本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476500" y="2914650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SQL 仍靠初始化与补丁文件维护。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76500" y="3190875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应对：整理迁移边界，验证新库与升级库。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400050" y="3695700"/>
            <a:ext cx="7810500" cy="666750"/>
          </a:xfrm>
          <a:prstGeom prst="roundRect">
            <a:avLst>
              <a:gd name="adj" fmla="val 11429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00050" y="3695700"/>
            <a:ext cx="76200" cy="666750"/>
          </a:xfrm>
          <a:prstGeom prst="rect">
            <a:avLst/>
          </a:prstGeom>
          <a:solidFill>
            <a:srgbClr val="2E9B72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" y="38100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模型输出波动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2476500" y="3790950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不同供应商的输出结构可能波动。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476500" y="4067175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应对：加强模板校验、JSON 兜底与失败日志。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400050" y="4572000"/>
            <a:ext cx="7810500" cy="666750"/>
          </a:xfrm>
          <a:prstGeom prst="roundRect">
            <a:avLst>
              <a:gd name="adj" fmla="val 11429"/>
            </a:avLst>
          </a:prstGeom>
          <a:solidFill>
            <a:srgbClr val="F1F4F7"/>
          </a:solidFill>
          <a:ln w="9525">
            <a:solidFill>
              <a:srgbClr val="C7CED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00050" y="4572000"/>
            <a:ext cx="76200" cy="666750"/>
          </a:xfrm>
          <a:prstGeom prst="rect">
            <a:avLst/>
          </a:prstGeom>
          <a:solidFill>
            <a:srgbClr val="8A949F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66750" y="46863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功能范围扩张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476500" y="4667250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批量导入、测验与错题本尚未实现。</a:t>
            </a:r>
            <a:endParaRPr sz="165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476500" y="4943475"/>
            <a:ext cx="54292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应对：先验证词汇闭环，再做范围内扩展。</a:t>
            </a:r>
            <a:endParaRPr sz="1650" b="0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55" name="图片 54"/>
          <p:cNvPicPr>
            <a:picLocks noChangeAspect="1"/>
          </p:cNvPicPr>
          <p:nvPr/>
        </p:nvPicPr>
        <p:blipFill>
          <a:blip r:embed="rId1"/>
          <a:srcRect l="19232" r="19232"/>
          <a:stretch>
            <a:fillRect/>
          </a:stretch>
        </p:blipFill>
        <p:spPr>
          <a:xfrm>
            <a:off x="8686800" y="1943100"/>
            <a:ext cx="3105150" cy="2838450"/>
          </a:xfrm>
          <a:prstGeom prst="roundRect">
            <a:avLst>
              <a:gd name="adj" fmla="val 3356"/>
            </a:avLst>
          </a:prstGeom>
        </p:spPr>
      </p:pic>
      <p:sp>
        <p:nvSpPr>
          <p:cNvPr id="28" name="矩形 27"/>
          <p:cNvSpPr>
            <a:spLocks noGrp="1"/>
          </p:cNvSpPr>
          <p:nvPr/>
        </p:nvSpPr>
        <p:spPr>
          <a:xfrm>
            <a:off x="8686800" y="4972050"/>
            <a:ext cx="3105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已有交互约束：删除操作使用二次确认。</a:t>
            </a:r>
            <a:endParaRPr sz="16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3" name="矩形 32"/>
          <p:cNvSpPr>
            <a:spLocks noGrp="1"/>
          </p:cNvSpPr>
          <p:nvPr/>
        </p:nvSpPr>
        <p:spPr>
          <a:xfrm>
            <a:off x="400050" y="342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后续计划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628650"/>
            <a:ext cx="11144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360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下一阶段：补验证、稳数据、做论文证据</a:t>
            </a:r>
            <a:endParaRPr sz="360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35255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62700"/>
            <a:ext cx="113919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77000"/>
            <a:ext cx="3810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毕业论文中期检查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277600" y="6448425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10</a:t>
            </a:r>
            <a:endParaRPr sz="105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619250"/>
            <a:ext cx="7620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时间以中期检查后的阶段计，不绑定尚未确认的学校截止日期。</a:t>
            </a:r>
            <a:endParaRPr sz="1725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857500" y="20383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第 1–2 周</a:t>
            </a:r>
            <a:endParaRPr sz="1650" b="1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857500" y="2324100"/>
            <a:ext cx="1762125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4619625" y="20383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第 3–4 周</a:t>
            </a:r>
            <a:endParaRPr sz="1650" b="1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619625" y="2324100"/>
            <a:ext cx="1762125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381750" y="20383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第 5–6 周</a:t>
            </a:r>
            <a:endParaRPr sz="1650" b="1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81750" y="2324100"/>
            <a:ext cx="1762125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143875" y="20383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第 7 周</a:t>
            </a:r>
            <a:endParaRPr sz="1650" b="1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143875" y="2324100"/>
            <a:ext cx="1762125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00050" y="24955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测试补齐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2952750" y="2362200"/>
            <a:ext cx="3333750" cy="514350"/>
          </a:xfrm>
          <a:prstGeom prst="roundRect">
            <a:avLst>
              <a:gd name="adj" fmla="val 14815"/>
            </a:avLst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067050" y="2476500"/>
            <a:ext cx="3105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鉴权 / 缓存 / 复习 / 文章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400050" y="3009900"/>
            <a:ext cx="106680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00050" y="32385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数据演进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4714875" y="3105150"/>
            <a:ext cx="1571625" cy="514350"/>
          </a:xfrm>
          <a:prstGeom prst="roundRect">
            <a:avLst>
              <a:gd name="adj" fmla="val 14815"/>
            </a:avLst>
          </a:prstGeom>
          <a:solidFill>
            <a:srgbClr val="2E9B72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829175" y="3219450"/>
            <a:ext cx="13430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1761"/>
          </a:bodyPr>
          <a:lstStyle/>
          <a:p>
            <a:pPr algn="ctr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迁移边界 + 初始化验证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00050" y="3752850"/>
            <a:ext cx="106680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00050" y="39814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体验打磨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4714875" y="3848100"/>
            <a:ext cx="3333750" cy="514350"/>
          </a:xfrm>
          <a:prstGeom prst="roundRect">
            <a:avLst>
              <a:gd name="adj" fmla="val 14815"/>
            </a:avLst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829175" y="3962400"/>
            <a:ext cx="3105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错误提示 + 移动端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400050" y="4495800"/>
            <a:ext cx="106680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400050" y="47244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论文沉淀</a:t>
            </a:r>
            <a:endParaRPr sz="16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477000" y="4591050"/>
            <a:ext cx="3333750" cy="514350"/>
          </a:xfrm>
          <a:prstGeom prst="roundRect">
            <a:avLst>
              <a:gd name="adj" fmla="val 14815"/>
            </a:avLst>
          </a:prstGeom>
          <a:solidFill>
            <a:srgbClr val="D96A7B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6591300" y="4705350"/>
            <a:ext cx="3105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实验记录 + 论文初稿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00050" y="5238750"/>
            <a:ext cx="10668000" cy="9525"/>
          </a:xfrm>
          <a:prstGeom prst="rect">
            <a:avLst/>
          </a:prstGeom>
          <a:solidFill>
            <a:srgbClr val="C7CED6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00050" y="5619750"/>
            <a:ext cx="1066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交付标准：可复现的数据库初始化、可执行的测试记录、可插入论文的系统截图与结果表。</a:t>
            </a:r>
            <a:endParaRPr sz="16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400050" y="4000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7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中期结论</a:t>
            </a:r>
            <a:endParaRPr sz="17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85800" y="1752600"/>
            <a:ext cx="9906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023"/>
          </a:bodyPr>
          <a:lstStyle/>
          <a:p>
            <a:pPr algn="l">
              <a:defRPr sz="43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核心闭环已成形，下一阶段转向</a:t>
            </a:r>
            <a:endParaRPr sz="43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43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101820"/>
                </a:solidFill>
                <a:latin typeface="微软雅黑"/>
                <a:ea typeface="微软雅黑"/>
                <a:cs typeface="微软雅黑"/>
              </a:rPr>
              <a:t>验证与交付。</a:t>
            </a:r>
            <a:endParaRPr sz="4350" b="1">
              <a:solidFill>
                <a:srgbClr val="10182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85800" y="3257550"/>
            <a:ext cx="533400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685800" y="3733800"/>
            <a:ext cx="42862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已经完成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- AI 生成与结构化词汇卡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- 单词本与个人学习快照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- 复习队列、文章学习与安全配置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0" y="3733800"/>
            <a:ext cx="428625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下一步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- 补齐自动化验证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- 固化数据库迁移与演示数据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5D6673"/>
                </a:solidFill>
                <a:latin typeface="微软雅黑"/>
                <a:ea typeface="微软雅黑"/>
                <a:cs typeface="微软雅黑"/>
              </a:rPr>
              <a:t>- 完成实验记录与论文正文</a:t>
            </a:r>
            <a:endParaRPr sz="1800" b="0">
              <a:solidFill>
                <a:srgbClr val="5D667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6019800"/>
            <a:ext cx="952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请老师指导：验证指标选择、论文实验设计、后续范围控制</a:t>
            </a:r>
            <a:endParaRPr sz="16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277600" y="62103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120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8A949F"/>
                </a:solidFill>
                <a:latin typeface="微软雅黑"/>
                <a:ea typeface="微软雅黑"/>
                <a:cs typeface="微软雅黑"/>
              </a:rPr>
              <a:t>11</a:t>
            </a:r>
            <a:endParaRPr sz="1200" b="0">
              <a:solidFill>
                <a:srgbClr val="8A949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2150</Words>
  <Application>WPS 表格</Application>
  <PresentationFormat>Converted Presentation</PresentationFormat>
  <Paragraphs>324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方正雅意黑 GB18030L2</vt:lpstr>
      <vt:lpstr>微软雅黑</vt:lpstr>
      <vt:lpstr>Arial Unicode MS</vt:lpstr>
      <vt:lpstr>Calibri</vt:lpstr>
      <vt:lpstr>微软雅黑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钱丁君</cp:lastModifiedBy>
  <cp:revision>4</cp:revision>
  <dcterms:created xsi:type="dcterms:W3CDTF">2026-08-15T05:32:03Z</dcterms:created>
  <dcterms:modified xsi:type="dcterms:W3CDTF">2026-08-15T05:32:03Z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93F79B585EF0A919D1F67F6A9E3B3467_42</vt:lpwstr>
  </property>
</Properties>
</file>