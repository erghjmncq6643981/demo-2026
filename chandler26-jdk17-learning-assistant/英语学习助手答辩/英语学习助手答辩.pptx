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5" Type="http://schemas.openxmlformats.org/officeDocument/2006/relationships/viewProps" Target="viewProps.xml" /><Relationship Id="rId14" Type="http://schemas.openxmlformats.org/officeDocument/2006/relationships/tableStyles" Target="tableStyles.xml" /><Relationship Id="rId13" Type="http://schemas.openxmlformats.org/officeDocument/2006/relationships/presProps" Target="presProps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2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6.png" /><Relationship Id="rId3" Type="http://schemas.openxmlformats.org/officeDocument/2006/relationships/image" Target="media/image5.png" /><Relationship Id="rId1" Type="http://schemas.openxmlformats.org/officeDocument/2006/relationships/image" Target="media/image3.png" /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osition: 'relative', fontFamily: '微软雅黑' }}&gt;&#10;    &lt;Box style={{ position: 'absolute', top: 0, left: 0, width: 1280, height: 6, background: '#1E4FA8' }} /&gt;&#10;&#10;    &lt;Box style={{ position: 'absolute', left: 96, top: 176, width: 6, height: 232, background: '#1E4FA8' }} /&gt;&#10;&#10;    &lt;Text style={{ position: 'absolute', left: 128, top: 168, width: 900, fontSize: 18, color: '#3D7BD9', letterSpacing: 2 }}&gt;&#10;        上海大学继续教育学院 · 专升本毕业设计答辩&#10;    &lt;/Text&gt;&#10;&#10;    &lt;Text style={{ position: 'absolute', left: 128, top: 206, width: 1000, fontSize: 62, fontWeight: 'bold', color: '#1A2230', lineHeight: 1.18 }}&gt;&#10;        基于大模型的英语学习助手&#10;    &lt;/Text&gt;&#10;&#10;    &lt;Text style={{ position: 'absolute', left: 128, top: 310, width: 900, fontSize: 22, color: '#4A5568', fontFamily: 'Georgia', lineHeight: 1.4 }}&gt;&#10;        An English Learning Assistant Based on Large Language Models&#10;    &lt;/Text&gt;&#10;&#10;    &lt;Box style={{ position: 'absolute', left: 128, top: 366, width: 760, height: 1, background: '#D6DCE5' }} /&gt;&#10;&#10;    &lt;Text style={{ position: 'absolute', left: 128, top: 386, width: 760, fontSize: 20, color: '#4A5568', lineHeight: 1.5 }}&gt;&#10;        从公共词表导入到间隔复习：一条可追踪、可复习的生成式学习闭环&#10;    &lt;/Text&gt;&#10;&#10;    &lt;Box style={{ position: 'absolute', left: 128, top: 574, width: 1024, flexDirection: 'row', alignItems: 'flex-start', gap: 56 }}&gt;&#10;        &lt;Box style={{ flexDirection: 'column', gap: 8 }}&gt;&#10;            &lt;Text style={{ fontSize: 14, color: '#8B97A8' }}&gt;答辩人&lt;/Text&gt;&#10;            &lt;Text style={{ fontSize: 20, color: '#1A2230', fontWeight: 'bold' }}&gt;钱丁君&lt;/Text&gt;&#10;            &lt;Text style={{ fontSize: 14, color: '#8B97A8' }}&gt;学号 234A0776&lt;/Text&gt;&#10;        &lt;/Box&gt;&#10;        &lt;Box style={{ width: 1, height: 54, background: '#D6DCE5', marginTop: 6 }} /&gt;&#10;        &lt;Box style={{ flexDirection: 'column', gap: 8 }}&gt;&#10;            &lt;Text style={{ fontSize: 14, color: '#8B97A8' }}&gt;指导教师&lt;/Text&gt;&#10;            &lt;Text style={{ fontSize: 20, color: '#1A2230', fontWeight: 'bold' }}&gt;刘福岩&lt;/Text&gt;&#10;        &lt;/Box&gt;&#10;        &lt;Box style={{ width: 1, height: 54, background: '#D6DCE5', marginTop: 6 }} /&gt;&#10;        &lt;Box style={{ flexDirection: 'column', gap: 8 }}&gt;&#10;            &lt;Text style={{ fontSize: 14, color: '#8B97A8' }}&gt;答辩时间&lt;/Text&gt;&#10;            &lt;Text style={{ fontSize: 20, color: '#1A2230', fontWeight: 'bold' }}&gt;2026 年 10 月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914400" y="1676400"/>
            <a:ext cx="57150" cy="2209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219200" y="1600200"/>
            <a:ext cx="8572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3D7BD9"/>
                </a:solidFill>
                <a:latin typeface="微软雅黑"/>
                <a:ea typeface="微软雅黑"/>
              </a:rPr>
              <a:t>上海大学继续教育学院</a:t>
            </a:r>
            <a:r>
              <a:rPr lang="en-US" sz="1350" spc="150">
                <a:solidFill>
                  <a:srgbClr val="3D7BD9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350" spc="150">
                <a:solidFill>
                  <a:srgbClr val="3D7BD9"/>
                </a:solidFill>
                <a:latin typeface="微软雅黑"/>
                <a:ea typeface="微软雅黑"/>
              </a:rPr>
              <a:t>专升本毕业设计答辩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219200" y="1962150"/>
            <a:ext cx="9525000" cy="8382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650" b="1">
                <a:solidFill>
                  <a:srgbClr val="1A2230"/>
                </a:solidFill>
                <a:latin typeface="微软雅黑"/>
                <a:ea typeface="微软雅黑"/>
              </a:rPr>
              <a:t>基于大模型的英语学习助手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19200" y="295275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Georgia"/>
                <a:ea typeface="Georgia"/>
              </a:rPr>
              <a:t>An English Learning Assistant Based on Large Language Models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219200" y="3486150"/>
            <a:ext cx="7239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219200" y="3676650"/>
            <a:ext cx="7239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微软雅黑"/>
                <a:ea typeface="微软雅黑"/>
              </a:rPr>
              <a:t>从公共词表导入到间隔复习：一条可追踪、可复习的生成式学习闭环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219200" y="54673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答辩人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219200" y="57054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/>
                <a:ea typeface="微软雅黑"/>
              </a:rPr>
              <a:t>钱丁君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219200" y="6010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学号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234A0776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667000" y="5524500"/>
            <a:ext cx="9525" cy="5143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209925" y="546735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指导教师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209925" y="57054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/>
                <a:ea typeface="微软雅黑"/>
              </a:rPr>
              <a:t>刘福岩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314825" y="5524500"/>
            <a:ext cx="9525" cy="5143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857750" y="546735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答辩时间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857750" y="5705475"/>
            <a:ext cx="118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微软雅黑"/>
                <a:ea typeface="微软雅黑"/>
              </a:rPr>
              <a:t xml:space="preserve">2026 </a:t>
            </a:r>
            <a:r>
              <a:rPr lang="zh-CN" sz="1500" b="1">
                <a:solidFill>
                  <a:srgbClr val="1A2230"/>
                </a:solidFill>
                <a:latin typeface="微软雅黑"/>
                <a:ea typeface="微软雅黑"/>
              </a:rPr>
              <a:t>年</a:t>
            </a:r>
            <a:r>
              <a:rPr lang="en-US" sz="1500" b="1">
                <a:solidFill>
                  <a:srgbClr val="1A2230"/>
                </a:solidFill>
                <a:latin typeface="微软雅黑"/>
                <a:ea typeface="微软雅黑"/>
              </a:rPr>
              <a:t xml:space="preserve"> 10 </a:t>
            </a:r>
            <a:r>
              <a:rPr lang="zh-CN" sz="1500" b="1">
                <a:solidFill>
                  <a:srgbClr val="1A2230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研究问题：把生成能力变成可复习的资产&lt;/Text&gt;&#10;        &lt;Text style={{ fontSize: 16, color: 'rgba(255,255,255,0.72)' }}&gt;01 · Research Question&lt;/Text&gt;&#10;    &lt;/Box&gt;&#10;&#10;    &lt;Box style={{ flexDirection: 'column', width: 1160, height: 588, justifyContent: 'space-between' }}&gt;&#10;        &lt;Box style={{ flexDirection: 'row', background: '#E8EFF8', padding: '18px 24px', alignItems: 'flex-start', gap: 20 }}&gt;&#10;            &lt;Box style={{ width: 4, height: 52, background: '#1E4FA8', marginTop: 2 }} /&gt;&#10;            &lt;Box style={{ flexDirection: 'column', gap: 6 }}&gt;&#10;                &lt;Text style={{ fontSize: 14, color: '#1E4FA8', fontWeight: 'bold', letterSpacing: 1 }}&gt;核心判断&lt;/Text&gt;&#10;                &lt;Text style={{ fontSize: 19, color: '#1A2230', lineHeight: 1.5 }}&gt;&#10;                    现有产品要么内容不可更新，要么生成结果留不住；词汇学习的资产其实在词表和复习流程里，而这两处恰好都接不上模型。&#10;                &lt;/Text&gt;&#10;            &lt;/Box&gt;&#10;        &lt;/Box&gt;&#10;&#10;        &lt;Box style={{ flexDirection: 'row', gap: 44 }}&gt;&#10;            &lt;Box style={{ width: 630, flexDirection: 'column' }}&gt;&#10;                &lt;Text style={{ fontSize: 14, color: '#8B97A8', letterSpacing: 1 }}&gt;现有产品的三处断层&lt;/Text&gt;&#10;                &lt;Box style={{ flexDirection: 'row', gap: 18, paddingTop: 16, paddingBottom: 16, borderBottom: '1px solid #E5E7EB' }}&gt;&#10;                    &lt;Text style={{ fontSize: 22, fontWeight: 'bold', color: '#1E4FA8', width: 34 }}&gt;Ⅰ&lt;/Text&gt;&#10;                    &lt;Box style={{ flexDirection: 'column', gap: 6, width: 566 }}&gt;&#10;                        &lt;Text style={{ fontSize: 21, fontWeight: 'bold', color: '#1A2230' }}&gt;内容固化，改一处要重来一遍&lt;/Text&gt;&#10;                        &lt;Text style={{ fontSize: 18, color: '#4A5568', lineHeight: 1.5 }}&gt;&#10;                            词表以 Markdown 整表导入，改一句例句要重导整张表，版本与审核只能人工比对。&#10;                        &lt;/Text&gt;&#10;                    &lt;/Box&gt;&#10;                &lt;/Box&gt;&#10;                &lt;Box style={{ flexDirection: 'row', gap: 18, paddingTop: 16, paddingBottom: 16, borderBottom: '1px solid #E5E7EB' }}&gt;&#10;                    &lt;Text style={{ fontSize: 22, fontWeight: 'bold', color: '#1E4FA8', width: 34 }}&gt;Ⅱ&lt;/Text&gt;&#10;                    &lt;Box style={{ flexDirection: 'column', gap: 6, width: 566 }}&gt;&#10;                        &lt;Text style={{ fontSize: 21, fontWeight: 'bold', color: '#1A2230' }}&gt;输出易失，关掉窗口就没了&lt;/Text&gt;&#10;                        &lt;Text style={{ fontSize: 18, color: '#4A5568', lineHeight: 1.5 }}&gt;&#10;                            通用对话把结果留在会话里，既进不了个人词表，也进不了下一次复习的排期。&#10;                        &lt;/Text&gt;&#10;                    &lt;/Box&gt;&#10;                &lt;/Box&gt;&#10;                &lt;Box style={{ flexDirection: 'row', gap: 18, paddingTop: 16 }}&gt;&#10;                    &lt;Text style={{ fontSize: 22, fontWeight: 'bold', color: '#1E4FA8', width: 34 }}&gt;Ⅲ&lt;/Text&gt;&#10;                    &lt;Box style={{ flexDirection: 'column', gap: 6, width: 566 }}&gt;&#10;                        &lt;Text style={{ fontSize: 21, fontWeight: 'bold', color: '#1A2230' }}&gt;流程割裂，掌握度各记各的&lt;/Text&gt;&#10;                        &lt;Text style={{ fontSize: 18, color: '#4A5568', lineHeight: 1.5 }}&gt;&#10;                            词表资源、逐词进度、复习时间分散在三处，学习者判断不了「哪些词真的会了」。&#10;                        &lt;/Text&gt;&#10;                    &lt;/Box&gt;&#10;                &lt;/Box&gt;&#10;            &lt;/Box&gt;&#10;&#10;            &lt;Box style={{ width: 486, flexDirection: 'column', gap: 18 }}&gt;&#10;                &lt;Box style={{ flexDirection: 'column', gap: 8, border: '1px solid #D6DCE5', padding: '18px 22px' }}&gt;&#10;                    &lt;Text style={{ fontSize: 14, color: '#8B97A8', letterSpacing: 1 }}&gt;研究问题&lt;/Text&gt;&#10;                    &lt;Text style={{ fontSize: 22, fontWeight: 'bold', color: '#1A2230', lineHeight: 1.45 }}&gt;&#10;                        模型的生成能力，怎么才能变成学习者留得下的资产？&#10;                    &lt;/Text&gt;&#10;                &lt;/Box&gt;&#10;                &lt;Box style={{ flexDirection: 'column', gap: 12 }}&gt;&#10;                    &lt;Box style={{ flexDirection: 'row', gap: 12, alignItems: 'flex-start' }}&gt;&#10;                        &lt;Text style={{ fontSize: 16, fontWeight: 'bold', color: '#3D7BD9', width: 26 }}&gt;01&lt;/Text&gt;&#10;                        &lt;Text style={{ fontSize: 17, color: '#1A2230', lineHeight: 1.5, width: 448 }}&gt;&#10;                            &lt;span style={{ fontWeight: 'bold' }}&gt;闭环可跑通&lt;/span&gt;：导入、组词、生成、挑战、复习五段都有真实数据。&#10;                        &lt;/Text&gt;&#10;                    &lt;/Box&gt;&#10;                    &lt;Box style={{ flexDirection: 'row', gap: 12, alignItems: 'flex-start' }}&gt;&#10;                        &lt;Text style={{ fontSize: 16, fontWeight: 'bold', color: '#3D7BD9', width: 26 }}&gt;02&lt;/Text&gt;&#10;                        &lt;Text style={{ fontSize: 17, color: '#1A2230', lineHeight: 1.5, width: 448 }}&gt;&#10;                            &lt;span style={{ fontWeight: 'bold' }}&gt;边界可审计&lt;/span&gt;：每次调用可定位到场景、模型、Token 与解析结果。&#10;                        &lt;/Text&gt;&#10;                    &lt;/Box&gt;&#10;                    &lt;Box style={{ flexDirection: 'row', gap: 12, alignItems: 'flex-start' }}&gt;&#10;                        &lt;Text style={{ fontSize: 16, fontWeight: 'bold', color: '#3D7BD9', width: 26 }}&gt;03&lt;/Text&gt;&#10;                        &lt;Text style={{ fontSize: 17, color: '#1A2230', lineHeight: 1.5, width: 448 }}&gt;&#10;                            &lt;span style={{ fontWeight: 'bold' }}&gt;指标可测量&lt;/span&gt;：并发、首屏、拼写容错、缓存复用率均有实测值。&#10;                        &lt;/Text&gt;&#10;                    &lt;/Box&gt;&#10;                &lt;/Box&gt;&#10;            &lt;/Box&gt;&#10;        &lt;/Box&gt;&#10;&#10;        &lt;Box style={{ flexDirection: 'row', background: '#F7F9FC', alignItems: 'center', padding: '14px 22px', gap: 14 }}&gt;&#10;            &lt;Box style={{ width: 3, height: 30, background: '#1E4FA8' }} /&gt;&#10;            &lt;Text style={{ fontSize: 18, color: '#1A2230' }}&gt;&#10;                本文要做的不是「更会生成」，而是把生成结果收进可追踪的任务和可复习的记录里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2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571500" y="685800"/>
            <a:ext cx="11049000" cy="8953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00100" y="876300"/>
            <a:ext cx="381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28700" y="857250"/>
            <a:ext cx="995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1E4FA8"/>
                </a:solidFill>
                <a:latin typeface="微软雅黑"/>
                <a:ea typeface="微软雅黑"/>
              </a:rPr>
              <a:t>核心判断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28700" y="1076325"/>
            <a:ext cx="99536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现有产品要么内容不可更新，要么生成结果留不住；词汇学习的资产其实在词表和复习流程里，而这两处恰好都接不上模型。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71500" y="1800225"/>
            <a:ext cx="600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现有产品的三处断层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71500" y="1962150"/>
            <a:ext cx="6000750" cy="1247775"/>
          </a:xfrm>
          <a:custGeom>
            <a:pathLst>
              <a:path w="630" h="131">
                <a:moveTo>
                  <a:pt x="0" y="130"/>
                </a:moveTo>
                <a:lnTo>
                  <a:pt x="630" y="130"/>
                </a:lnTo>
                <a:lnTo>
                  <a:pt x="630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71500" y="2114550"/>
            <a:ext cx="323850" cy="923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微软雅黑"/>
                <a:ea typeface="微软雅黑"/>
              </a:rPr>
              <a:t>Ⅰ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66800" y="2114550"/>
            <a:ext cx="5391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内容固化，改一处要重来一遍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66800" y="2419350"/>
            <a:ext cx="53911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词表以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 xml:space="preserve"> Markdown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整表导入，改一句例句要重导整张表，版本与审核只能人工比对。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71500" y="3200400"/>
            <a:ext cx="6000750" cy="1247775"/>
          </a:xfrm>
          <a:custGeom>
            <a:pathLst>
              <a:path w="630" h="131">
                <a:moveTo>
                  <a:pt x="0" y="130"/>
                </a:moveTo>
                <a:lnTo>
                  <a:pt x="630" y="130"/>
                </a:lnTo>
                <a:lnTo>
                  <a:pt x="630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3352800"/>
            <a:ext cx="323850" cy="923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微软雅黑"/>
                <a:ea typeface="微软雅黑"/>
              </a:rPr>
              <a:t>Ⅱ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066800" y="3352800"/>
            <a:ext cx="5391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输出易失，关掉窗口就没了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66800" y="3657600"/>
            <a:ext cx="53911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通用对话把结果留在会话里，既进不了个人词表，也进不了下一次复习的排期。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4591050"/>
            <a:ext cx="323850" cy="923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微软雅黑"/>
                <a:ea typeface="微软雅黑"/>
              </a:rPr>
              <a:t>Ⅲ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066800" y="4591050"/>
            <a:ext cx="5391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流程割裂，掌握度各记各的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66800" y="4895850"/>
            <a:ext cx="53911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词表资源、逐词进度、复习时间分散在三处，学习者判断不了「哪些词真的会了」。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991350" y="1800225"/>
            <a:ext cx="4629150" cy="13144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200900" y="19716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研究问题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200900" y="2209800"/>
            <a:ext cx="42100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A2230"/>
                </a:solidFill>
                <a:latin typeface="微软雅黑"/>
                <a:ea typeface="微软雅黑"/>
              </a:rPr>
              <a:t>模型的生成能力，怎么才能变成学习者留得下的资产？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991350" y="328612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353300" y="3286125"/>
            <a:ext cx="4267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闭环可跑通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：导入、组词、生成、挑战、复习五段都有真实数据。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991350" y="399097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353300" y="3990975"/>
            <a:ext cx="4267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边界可审计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：每次调用可定位到场景、模型、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 xml:space="preserve">Token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与解析结果。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991350" y="469582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353300" y="4695825"/>
            <a:ext cx="4267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指标可测量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：并发、首屏、拼写容错、缓存复用率均有实测值。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651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本文要做的不是「更会生成」，而是把生成结果收进可追踪的任务和可复习的记录里。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5486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研究问题：把生成能力变成可复习的资产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010775" y="171450"/>
            <a:ext cx="160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01 · Research Question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02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总体架构：五个层次，一处进出口&lt;/Text&gt;&#10;        &lt;Text style={{ fontSize: 16, color: 'rgba(255,255,255,0.72)' }}&gt;02 · Architecture&lt;/Text&gt;&#10;    &lt;/Box&gt;&#10;&#10;    &lt;Box style={{ flexDirection: 'column', width: 1160, height: 588, justifyContent: 'space-between' }}&gt;&#10;        &lt;Box style={{ flexDirection: 'row', gap: 40 }}&gt;&#10;            &lt;Box style={{ width: 700, flexDirection: 'column', gap: 10 }}&gt;&#10;                &lt;Image src=&quot;assets/arch_layers.png&quot; style={{ width: 700, height: 236, border: '1px solid #E5E7EB' }} /&gt;&#10;                &lt;Text style={{ fontSize: 14, color: '#8B97A8', lineHeight: 1.4 }}&gt;&#10;                    图 4-1　五层职责边界：模型调用只能从 AI 网关进出，业务域之间不直连&#10;                &lt;/Text&gt;&#10;                &lt;Text style={{ fontSize: 17, color: '#4A5568', lineHeight: 1.55 }}&gt;&#10;                    一次请求的路径是固定的：浏览器 → Controller（JWT 与声明式权限）→ 应用服务（事务边界）→ 领域对象 → 基础设施。跨域只走窄化的应用契约；模型调用从网关出去，回包先经场景编解码，再进业务。&#10;                &lt;/Text&gt;&#10;                &lt;Box style={{ flexDirection: 'row', flexWrap: 'wrap', gap: 0, marginTop: 10 }}&gt;&#10;                    &lt;Box style={{ width: 350, flexDirection: 'row', alignItems: 'flex-end', gap: 8, paddingBottom: 14 }}&gt;&#10;                        &lt;Text style={{ fontSize: 34, fontWeight: 'bold', color: '#1E4FA8', lineHeight: 1 }}&gt;400&lt;/Text&gt;&#10;                        &lt;Text style={{ fontSize: 14, color: '#4A5568', lineHeight: 1.2, paddingBottom: 3 }}&gt;个 Java 类&lt;/Text&gt;&#10;                    &lt;/Box&gt;&#10;                    &lt;Box style={{ width: 350, flexDirection: 'row', alignItems: 'flex-end', gap: 8, paddingBottom: 14 }}&gt;&#10;                        &lt;Text style={{ fontSize: 34, fontWeight: 'bold', color: '#1E4FA8', lineHeight: 1 }}&gt;127&lt;/Text&gt;&#10;                        &lt;Text style={{ fontSize: 14, color: '#4A5568', lineHeight: 1.2, paddingBottom: 3 }}&gt;个 HTTP 接口&lt;/Text&gt;&#10;                    &lt;/Box&gt;&#10;                    &lt;Box style={{ width: 350, flexDirection: 'row', alignItems: 'flex-end', gap: 8 }}&gt;&#10;                        &lt;Text style={{ fontSize: 34, fontWeight: 'bold', color: '#1E4FA8', lineHeight: 1 }}&gt;39&lt;/Text&gt;&#10;                        &lt;Text style={{ fontSize: 14, color: '#4A5568', lineHeight: 1.2, paddingBottom: 3 }}&gt;张数据表&lt;/Text&gt;&#10;                    &lt;/Box&gt;&#10;                    &lt;Box style={{ width: 350, flexDirection: 'row', alignItems: 'flex-end', gap: 8 }}&gt;&#10;                        &lt;Text style={{ fontSize: 34, fontWeight: 'bold', color: '#1E4FA8', lineHeight: 1 }}&gt;84&lt;/Text&gt;&#10;                        &lt;Text style={{ fontSize: 14, color: '#4A5568', lineHeight: 1.2, paddingBottom: 3 }}&gt;个前端模块&lt;/Text&gt;&#10;                    &lt;/Box&gt;&#10;                &lt;/Box&gt;&#10;            &lt;/Box&gt;&#10;&#10;            &lt;Box style={{ width: 420, flexDirection: 'column', justifyContent: 'space-between' }}&gt;&#10;                &lt;Box style={{ flexDirection: 'column', gap: 5, paddingBottom: 14, borderBottom: '1px solid #E5E7EB' }}&gt;&#10;                    &lt;Text style={{ fontSize: 19, fontWeight: 'bold', color: '#1A2230' }}&gt;模块化单体，不拆微服务&lt;/Text&gt;&#10;                    &lt;Text style={{ fontSize: 17, color: '#4A5568', lineHeight: 1.5 }}&gt;&#10;                        六个业务域按包切分，进程 1 个、产物 1 个 jar，省掉注册中心与链路追踪的运维成本。&#10;                    &lt;/Text&gt;&#10;                &lt;/Box&gt;&#10;                &lt;Box style={{ flexDirection: 'column', gap: 5, paddingTop: 14, paddingBottom: 14, borderBottom: '1px solid #E5E7EB' }}&gt;&#10;                    &lt;Text style={{ fontSize: 19, fontWeight: 'bold', color: '#1A2230' }}&gt;供应商差异只留在网关&lt;/Text&gt;&#10;                    &lt;Text style={{ fontSize: 17, color: '#4A5568', lineHeight: 1.5 }}&gt;&#10;                        业务层只声明调用场景，DeepSeek 与 Kimi 的协议差异下沉到请求适配器。&#10;                    &lt;/Text&gt;&#10;                &lt;/Box&gt;&#10;                &lt;Box style={{ flexDirection: 'column', gap: 5, paddingTop: 14, paddingBottom: 14, borderBottom: '1px solid #E5E7EB' }}&gt;&#10;                    &lt;Text style={{ fontSize: 19, fontWeight: 'bold', color: '#1A2230' }}&gt;单表走 ORM，复杂 SQL 走 XML&lt;/Text&gt;&#10;                    &lt;Text style={{ fontSize: 17, color: '#4A5568', lineHeight: 1.5 }}&gt;&#10;                        MyBatis-Plus 管增删改查，28 个 Mapper XML 承担多表摘要与批量写入。&#10;                    &lt;/Text&gt;&#10;                &lt;/Box&gt;&#10;                &lt;Box style={{ flexDirection: 'column', gap: 5, paddingTop: 14 }}&gt;&#10;                    &lt;Text style={{ fontSize: 19, fontWeight: 'bold', color: '#1A2230' }}&gt;Long ID 序列化成字符串&lt;/Text&gt;&#10;                    &lt;Text style={{ fontSize: 17, color: '#4A5568', lineHeight: 1.5 }}&gt;&#10;                        前端 JavaScript 超过 2^53 就丢精度，统一在 Jackson 层转换，不靠前端兜底。&#10;                    &lt;/Text&gt;&#10;                &lt;/Box&gt;&#10;            &lt;/Box&gt;&#10;        &lt;/Box&gt;&#10;&#10;        &lt;Box style={{ flexDirection: 'row', background: '#F7F9FC', alignItems: 'center', padding: '14px 22px', gap: 14 }}&gt;&#10;            &lt;Box style={{ width: 3, height: 30, background: '#1E4FA8' }} /&gt;&#10;            &lt;Text style={{ fontSize: 18, color: '#1A2230' }}&gt;&#10;                取舍标准只有一条：把不确定性关进一个能被测试、也能被审计的边界里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3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571500" y="685800"/>
            <a:ext cx="6667500" cy="22479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105" name=""/>
          <p:cNvPicPr>
            <a:picLocks noChangeAspect="1"/>
          </p:cNvPicPr>
          <p:nvPr/>
        </p:nvPicPr>
        <p:blipFill>
          <a:blip r:embed="rId1"/>
          <a:srcRect l="0" t="52" r="0" b="52"/>
          <a:stretch>
            <a:fillRect/>
          </a:stretch>
        </p:blipFill>
        <p:spPr>
          <a:xfrm rot="0" flipH="0" flipV="0">
            <a:off x="571500" y="685800"/>
            <a:ext cx="6667500" cy="2247900"/>
          </a:xfrm>
          <a:prstGeom prst="rect">
            <a:avLst/>
          </a:prstGeom>
          <a:ln/>
        </p:spPr>
      </p:pic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3028950"/>
            <a:ext cx="66675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图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4-1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五层职责边界：模型调用只能从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网关进出，业务域之间不直连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1500" y="3352800"/>
            <a:ext cx="6667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一次请求的路径是固定的：浏览器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→ Controller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（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JWT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与声明式权限）→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应用服务（事务边界）→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领域对象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→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基础设施。跨域只走窄化的应用契约；模型调用从网关出去，回包先经场景编解码，再进业务。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71500" y="4448175"/>
            <a:ext cx="542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/>
                <a:ea typeface="微软雅黑"/>
              </a:rPr>
              <a:t>400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90625" y="4610100"/>
            <a:ext cx="628650" cy="228600"/>
          </a:xfrm>
          <a:prstGeom prst="rect"/>
        </p:spPr>
        <p:txBody>
          <a:bodyPr wrap="none" lIns="0" tIns="0" rIns="0" bIns="21431"/>
          <a:p>
            <a:pPr>
              <a:lnSpc>
                <a:spcPct val="12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个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 xml:space="preserve"> Java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类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905250" y="4448175"/>
            <a:ext cx="542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/>
                <a:ea typeface="微软雅黑"/>
              </a:rPr>
              <a:t>127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524375" y="4610100"/>
            <a:ext cx="828675" cy="228600"/>
          </a:xfrm>
          <a:prstGeom prst="rect"/>
        </p:spPr>
        <p:txBody>
          <a:bodyPr wrap="none" lIns="0" tIns="0" rIns="0" bIns="21431"/>
          <a:p>
            <a:pPr>
              <a:lnSpc>
                <a:spcPct val="12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个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 xml:space="preserve"> HTTP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接口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4972050"/>
            <a:ext cx="361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/>
                <a:ea typeface="微软雅黑"/>
              </a:rPr>
              <a:t>39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09650" y="5133975"/>
            <a:ext cx="533400" cy="228600"/>
          </a:xfrm>
          <a:prstGeom prst="rect"/>
        </p:spPr>
        <p:txBody>
          <a:bodyPr wrap="none" lIns="0" tIns="0" rIns="0" bIns="21431"/>
          <a:p>
            <a:pPr>
              <a:lnSpc>
                <a:spcPct val="12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张数据表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905250" y="4972050"/>
            <a:ext cx="361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/>
                <a:ea typeface="微软雅黑"/>
              </a:rPr>
              <a:t>84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343400" y="5133975"/>
            <a:ext cx="666750" cy="228600"/>
          </a:xfrm>
          <a:prstGeom prst="rect"/>
        </p:spPr>
        <p:txBody>
          <a:bodyPr wrap="none" lIns="0" tIns="0" rIns="0" bIns="21431"/>
          <a:p>
            <a:pPr>
              <a:lnSpc>
                <a:spcPct val="12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个前端模块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7620000" y="685800"/>
            <a:ext cx="4000500" cy="1009650"/>
          </a:xfrm>
          <a:custGeom>
            <a:pathLst>
              <a:path w="420" h="106">
                <a:moveTo>
                  <a:pt x="0" y="105"/>
                </a:moveTo>
                <a:lnTo>
                  <a:pt x="420" y="105"/>
                </a:lnTo>
                <a:lnTo>
                  <a:pt x="420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620000" y="685800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模块化单体，不拆微服务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620000" y="952500"/>
            <a:ext cx="4000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六个业务域按包切分，进程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1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个、产物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1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个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jar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，省掉注册中心与链路追踪的运维成本。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620000" y="1828800"/>
            <a:ext cx="4000500" cy="1143000"/>
          </a:xfrm>
          <a:custGeom>
            <a:pathLst>
              <a:path w="420" h="120">
                <a:moveTo>
                  <a:pt x="0" y="119"/>
                </a:moveTo>
                <a:lnTo>
                  <a:pt x="420" y="119"/>
                </a:lnTo>
                <a:lnTo>
                  <a:pt x="420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620000" y="1962150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供应商差异只留在网关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620000" y="2228850"/>
            <a:ext cx="4000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业务层只声明调用场景，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DeepSeek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Kimi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的协议差异下沉到请求适配器。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7620000" y="3095625"/>
            <a:ext cx="4000500" cy="1143000"/>
          </a:xfrm>
          <a:custGeom>
            <a:pathLst>
              <a:path w="420" h="120">
                <a:moveTo>
                  <a:pt x="0" y="119"/>
                </a:moveTo>
                <a:lnTo>
                  <a:pt x="420" y="119"/>
                </a:lnTo>
                <a:lnTo>
                  <a:pt x="420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620000" y="322897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单表走</a:t>
            </a: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 xml:space="preserve"> ORM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，复杂</a:t>
            </a: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 xml:space="preserve"> SQL 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走</a:t>
            </a: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 xml:space="preserve"> XML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620000" y="3495675"/>
            <a:ext cx="4000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MyBatis-Plus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管增删改查，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28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个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Mapper XML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承担多表摘要与批量写入。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620000" y="450532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 xml:space="preserve">Long ID 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序列化成字符串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620000" y="4772025"/>
            <a:ext cx="4000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前端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JavaScript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超过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2^53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就丢精度，统一在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Jackson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层转换，不靠前端兜底。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565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取舍标准只有一条：把不确定性关进一个能被测试、也能被审计的边界里。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4572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总体架构：五个层次，一处进出口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506075" y="171450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02 · Architecture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模块与治理：边界写在测试里&lt;/Text&gt;&#10;        &lt;Text style={{ fontSize: 16, color: 'rgba(255,255,255,0.72)' }}&gt;03 · Modular Monolith&lt;/Text&gt;&#10;    &lt;/Box&gt;&#10;&#10;    &lt;Box style={{ flexDirection: 'column', width: 1160, height: 588, justifyContent: 'space-between' }}&gt;&#10;        &lt;Box style={{ flexDirection: 'row', gap: 56 }}&gt;&#10;            &lt;Box style={{ width: 540, flexDirection: 'column' }}&gt;&#10;                &lt;Text style={{ fontSize: 14, color: '#8B97A8', letterSpacing: 1 }}&gt;六个业务域的实际代码规模（Java 类）&lt;/Text&gt;&#10;                &lt;Box style={{ flexDirection: 'column', marginTop: 18, gap: 14 }}&gt;&#10;                    &lt;Box style={{ flexDirection: 'row', alignItems: 'center', gap: 12 }}&gt;&#10;                        &lt;Text style={{ width: 104, fontSize: 17, color: '#1A2230' }}&gt;vocabulary&lt;/Text&gt;&#10;                        &lt;Box style={{ width: 330, height: 18, background: '#E8EFF8' }}&gt;&#10;                            &lt;Box style={{ width: 330, height: 18, background: '#1E4FA8' }} /&gt;&#10;                        &lt;/Box&gt;&#10;                        &lt;Text style={{ width: 42, fontSize: 17, fontWeight: 'bold', color: '#1E4FA8', textAlign: 'right' }}&gt;106&lt;/Text&gt;&#10;                    &lt;/Box&gt;&#10;                    &lt;Box style={{ flexDirection: 'row', alignItems: 'center', gap: 12 }}&gt;&#10;                        &lt;Text style={{ width: 104, fontSize: 17, color: '#1A2230' }}&gt;learning&lt;/Text&gt;&#10;                        &lt;Box style={{ width: 330, height: 18, background: '#E8EFF8' }}&gt;&#10;                            &lt;Box style={{ width: 255, height: 18, background: '#1E4FA8' }} /&gt;&#10;                        &lt;/Box&gt;&#10;                        &lt;Text style={{ width: 42, fontSize: 17, fontWeight: 'bold', color: '#1E4FA8', textAlign: 'right' }}&gt;82&lt;/Text&gt;&#10;                    &lt;/Box&gt;&#10;                    &lt;Box style={{ flexDirection: 'row', alignItems: 'center', gap: 12 }}&gt;&#10;                        &lt;Text style={{ width: 104, fontSize: 17, color: '#1A2230' }}&gt;ai&lt;/Text&gt;&#10;                        &lt;Box style={{ width: 330, height: 18, background: '#E8EFF8' }}&gt;&#10;                            &lt;Box style={{ width: 252, height: 18, background: '#1E4FA8' }} /&gt;&#10;                        &lt;/Box&gt;&#10;                        &lt;Text style={{ width: 42, fontSize: 17, fontWeight: 'bold', color: '#1E4FA8', textAlign: 'right' }}&gt;81&lt;/Text&gt;&#10;                    &lt;/Box&gt;&#10;                    &lt;Box style={{ flexDirection: 'row', alignItems: 'center', gap: 12 }}&gt;&#10;                        &lt;Text style={{ width: 104, fontSize: 17, color: '#1A2230' }}&gt;identity&lt;/Text&gt;&#10;                        &lt;Box style={{ width: 330, height: 18, background: '#E8EFF8' }}&gt;&#10;                            &lt;Box style={{ width: 90, height: 18, background: '#3D7BD9' }} /&gt;&#10;                        &lt;/Box&gt;&#10;                        &lt;Text style={{ width: 42, fontSize: 17, fontWeight: 'bold', color: '#3D7BD9', textAlign: 'right' }}&gt;29&lt;/Text&gt;&#10;                    &lt;/Box&gt;&#10;                    &lt;Box style={{ flexDirection: 'row', alignItems: 'center', gap: 12 }}&gt;&#10;                        &lt;Text style={{ width: 104, fontSize: 17, color: '#1A2230' }}&gt;task&lt;/Text&gt;&#10;                        &lt;Box style={{ width: 330, height: 18, background: '#E8EFF8' }}&gt;&#10;                            &lt;Box style={{ width: 78, height: 18, background: '#3D7BD9' }} /&gt;&#10;                        &lt;/Box&gt;&#10;                        &lt;Text style={{ width: 42, fontSize: 17, fontWeight: 'bold', color: '#3D7BD9', textAlign: 'right' }}&gt;25&lt;/Text&gt;&#10;                    &lt;/Box&gt;&#10;                    &lt;Box style={{ flexDirection: 'row', alignItems: 'center', gap: 12 }}&gt;&#10;                        &lt;Text style={{ width: 104, fontSize: 17, color: '#1A2230' }}&gt;system&lt;/Text&gt;&#10;                        &lt;Box style={{ width: 330, height: 18, background: '#E8EFF8' }}&gt;&#10;                            &lt;Box style={{ width: 65, height: 18, background: '#3D7BD9' }} /&gt;&#10;                        &lt;/Box&gt;&#10;                        &lt;Text style={{ width: 42, fontSize: 17, fontWeight: 'bold', color: '#3D7BD9', textAlign: 'right' }}&gt;21&lt;/Text&gt;&#10;                    &lt;/Box&gt;&#10;                    &lt;Box style={{ flexDirection: 'row', alignItems: 'center', gap: 12 }}&gt;&#10;                        &lt;Text style={{ width: 104, fontSize: 17, color: '#1A2230' }}&gt;reading&lt;/Text&gt;&#10;                        &lt;Box style={{ width: 330, height: 18, background: '#E8EFF8' }}&gt;&#10;                            &lt;Box style={{ width: 56, height: 18, background: '#3D7BD9' }} /&gt;&#10;                        &lt;/Box&gt;&#10;                        &lt;Text style={{ width: 42, fontSize: 17, fontWeight: 'bold', color: '#3D7BD9', textAlign: 'right' }}&gt;18&lt;/Text&gt;&#10;                    &lt;/Box&gt;&#10;                &lt;/Box&gt;&#10;                &lt;Text style={{ fontSize: 15, color: '#8B97A8', lineHeight: 1.5, marginTop: 18 }}&gt;&#10;                    合计 400 个类，另含 config 14、security 16、common 5。词汇与 AI 两个域占了近一半，这正是业务复杂度的真实分布。&#10;                &lt;/Text&gt;&#10;                &lt;Box style={{ flexDirection: 'column', gap: 8, marginTop: 20, paddingTop: 18, borderTop: '1px solid #E5E7EB' }}&gt;&#10;                    &lt;Text style={{ fontSize: 18, fontWeight: 'bold', color: '#1A2230' }}&gt;按业务域切，不按技术层切&lt;/Text&gt;&#10;                    &lt;Text style={{ fontSize: 17, color: '#4A5568', lineHeight: 1.55 }}&gt;&#10;                        改一个功能只动一个包：词汇相关的控制器、用例、实体、Mapper 全在 vocabulary 下，评审和回溯不用跨五个根目录。代价是同域内会有少量重复 DTO，这个重复我选择接受。&#10;                    &lt;/Text&gt;&#10;                &lt;/Box&gt;&#10;            &lt;/Box&gt;&#10;&#10;            &lt;Box style={{ width: 564, flexDirection: 'column' }}&gt;&#10;                &lt;Text style={{ fontSize: 14, color: '#8B97A8', letterSpacing: 1 }}&gt;四条硬规则，由架构测试强制执行&lt;/Text&gt;&#10;                &lt;Box style={{ flexDirection: 'column', gap: 12, marginTop: 18 }}&gt;&#10;                    &lt;Box style={{ flexDirection: 'row', gap: 12, alignItems: 'flex-start' }}&gt;&#10;                        &lt;Text style={{ fontSize: 16, fontWeight: 'bold', color: '#3D7BD9', width: 24 }}&gt;01&lt;/Text&gt;&#10;                        &lt;Text style={{ fontSize: 18, color: '#1A2230', lineHeight: 1.5, width: 528 }}&gt;&#10;                            api → application → domain；infrastructure → domain，依赖方向单向。&#10;                        &lt;/Text&gt;&#10;                    &lt;/Box&gt;&#10;                    &lt;Box style={{ flexDirection: 'row', gap: 12, alignItems: 'flex-start' }}&gt;&#10;                        &lt;Text style={{ fontSize: 16, fontWeight: 'bold', color: '#3D7BD9', width: 24 }}&gt;02&lt;/Text&gt;&#10;                        &lt;Text style={{ fontSize: 18, color: '#1A2230', lineHeight: 1.5, width: 528 }}&gt;&#10;                            控制器不碰 Mapper，领域代码不反向依赖接口层或基础设施层。&#10;                        &lt;/Text&gt;&#10;                    &lt;/Box&gt;&#10;                    &lt;Box style={{ flexDirection: 'row', gap: 12, alignItems: 'flex-start' }}&gt;&#10;                        &lt;Text style={{ fontSize: 16, fontWeight: 'bold', color: '#3D7BD9', width: 24 }}&gt;03&lt;/Text&gt;&#10;                        &lt;Text style={{ fontSize: 18, color: '#1A2230', lineHeight: 1.5, width: 528 }}&gt;&#10;                            跨域访问只走窄化过的应用契约，不直接拿别人的实体和 Mapper。&#10;                        &lt;/Text&gt;&#10;                    &lt;/Box&gt;&#10;                    &lt;Box style={{ flexDirection: 'row', gap: 12, alignItems: 'flex-start' }}&gt;&#10;                        &lt;Text style={{ fontSize: 16, fontWeight: 'bold', color: '#3D7BD9', width: 24 }}&gt;04&lt;/Text&gt;&#10;                        &lt;Text style={{ fontSize: 18, color: '#1A2230', lineHeight: 1.5, width: 528 }}&gt;&#10;                            controller / service / mapper 这类横向根包禁止重建，实体、枚举、Mapper 各归其包。&#10;                        &lt;/Text&gt;&#10;                    &lt;/Box&gt;&#10;                &lt;/Box&gt;&#10;&#10;                &lt;Box style={{ flexDirection: 'column', gap: 8, marginTop: 22, paddingTop: 18, borderTop: '1px solid #E5E7EB' }}&gt;&#10;                    &lt;Text style={{ fontSize: 18, fontWeight: 'bold', color: '#1A2230' }}&gt;另有两条规模与文档约束&lt;/Text&gt;&#10;                    &lt;Text style={{ fontSize: 17, color: '#4A5568', lineHeight: 1.55 }}&gt;&#10;                        单文件超过既定行数，必须按渲染、状态、策略或持久化职责拆开才能合并；对外接口与关键领域概念必须写中文说明，缺文档的提交一样过不了。&#10;                    &lt;/Text&gt;&#10;                &lt;/Box&gt;&#10;                &lt;Text style={{ fontSize: 14, color: '#8B97A8', lineHeight: 1.5, marginTop: 12 }}&gt;&#10;                    LayeredPackageArchitectureTest · AiPackageArchitectureTest · SourceSizeGovernanceTest · ChineseDocumentationGovernanceTest&#10;                &lt;/Text&gt;&#10;            &lt;/Box&gt;&#10;        &lt;/Box&gt;&#10;&#10;        &lt;Box style={{ flexDirection: 'row', background: '#F7F9FC', alignItems: 'center', padding: '14px 22px', gap: 14 }}&gt;&#10;            &lt;Box style={{ width: 3, height: 30, background: '#1E4FA8' }} /&gt;&#10;            &lt;Text style={{ fontSize: 18, color: '#1A2230' }}&gt;&#10;                边界不是写在文档里靠人自觉，是 CI 里跑不过就合不进去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4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68580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六个业务域的实际代码规模（</a:t>
            </a:r>
            <a:r>
              <a:rPr lang="en-US" sz="1050" spc="75">
                <a:solidFill>
                  <a:srgbClr val="8B97A8"/>
                </a:solidFill>
                <a:latin typeface="微软雅黑"/>
                <a:ea typeface="微软雅黑"/>
              </a:rPr>
              <a:t xml:space="preserve">Java </a:t>
            </a: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类）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1500" y="1019175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vocabulary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1676400" y="1038225"/>
            <a:ext cx="3143250" cy="171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1676400" y="1038225"/>
            <a:ext cx="3143250" cy="1714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933950" y="1019175"/>
            <a:ext cx="4000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106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1352550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learning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1676400" y="1371600"/>
            <a:ext cx="3143250" cy="171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1676400" y="1371600"/>
            <a:ext cx="2428875" cy="1714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933950" y="1352550"/>
            <a:ext cx="4000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82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71500" y="1685925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ai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1676400" y="1704975"/>
            <a:ext cx="3143250" cy="171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1676400" y="1704975"/>
            <a:ext cx="2400300" cy="1714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933950" y="1685925"/>
            <a:ext cx="4000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81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71500" y="2019300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identity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1676400" y="2038350"/>
            <a:ext cx="3143250" cy="171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1676400" y="2038350"/>
            <a:ext cx="857250" cy="1714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933950" y="2019300"/>
            <a:ext cx="4000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微软雅黑"/>
                <a:ea typeface="微软雅黑"/>
              </a:rPr>
              <a:t>29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2352675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task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1676400" y="2371725"/>
            <a:ext cx="3143250" cy="171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1676400" y="2371725"/>
            <a:ext cx="742950" cy="1714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933950" y="2352675"/>
            <a:ext cx="4000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微软雅黑"/>
                <a:ea typeface="微软雅黑"/>
              </a:rPr>
              <a:t>25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71500" y="2686050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system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1676400" y="2705100"/>
            <a:ext cx="3143250" cy="171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1676400" y="2705100"/>
            <a:ext cx="619125" cy="1714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933950" y="2686050"/>
            <a:ext cx="4000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微软雅黑"/>
                <a:ea typeface="微软雅黑"/>
              </a:rPr>
              <a:t>21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3019425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reading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1676400" y="3038475"/>
            <a:ext cx="3143250" cy="171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1676400" y="3038475"/>
            <a:ext cx="533400" cy="1714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933950" y="3019425"/>
            <a:ext cx="4000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微软雅黑"/>
                <a:ea typeface="微软雅黑"/>
              </a:rPr>
              <a:t>18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" y="3390900"/>
            <a:ext cx="5143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合计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 xml:space="preserve"> 400 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个类，另含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 xml:space="preserve"> config 14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、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security 16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、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common 5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。词汇与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 xml:space="preserve"> AI 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两个域占了近一半，这正是业务复杂度的真实分布。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71500" y="4095750"/>
            <a:ext cx="5143500" cy="1381125"/>
          </a:xfrm>
          <a:custGeom>
            <a:pathLst>
              <a:path w="540" h="145">
                <a:moveTo>
                  <a:pt x="0" y="0"/>
                </a:moveTo>
                <a:lnTo>
                  <a:pt x="540" y="0"/>
                </a:lnTo>
                <a:lnTo>
                  <a:pt x="5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4276725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按业务域切，不按技术层切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1500" y="4562475"/>
            <a:ext cx="5143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改一个功能只动一个包：词汇相关的控制器、用例、实体、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Mapper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全在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vocabulary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下，评审和回溯不用跨五个根目录。代价是同域内会有少量重复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DTO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，这个重复我选择接受。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248400" y="6858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四条硬规则，由架构测试强制执行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248400" y="101917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591300" y="1019175"/>
            <a:ext cx="5029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api → application → domain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；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infrastructure → domain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，依赖方向单向。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248400" y="175260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591300" y="1752600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控制器不碰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Mapper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，领域代码不反向依赖接口层或基础设施层。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248400" y="218122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591300" y="2181225"/>
            <a:ext cx="5029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跨域访问只走窄化过的应用契约，不直接拿别人的实体和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Mapper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248400" y="29146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591300" y="2914650"/>
            <a:ext cx="5029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controller / service / mapper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这类横向根包禁止重建，实体、枚举、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Mapper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各归其包。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248400" y="3743325"/>
            <a:ext cx="5372100" cy="1085850"/>
          </a:xfrm>
          <a:custGeom>
            <a:pathLst>
              <a:path w="564" h="114">
                <a:moveTo>
                  <a:pt x="0" y="0"/>
                </a:moveTo>
                <a:lnTo>
                  <a:pt x="564" y="0"/>
                </a:lnTo>
                <a:lnTo>
                  <a:pt x="5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248400" y="39243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另有两条规模与文档约束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248400" y="4210050"/>
            <a:ext cx="53721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单文件超过既定行数，必须按渲染、状态、策略或持久化职责拆开才能合并；对外接口与关键领域概念必须写中文说明，缺文档的提交一样过不了。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248400" y="4933950"/>
            <a:ext cx="5372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LayeredPackageArchitectureTest · AiPackageArchitectureTest · SourceSizeGovernanceTest · ChineseDocumentationGovernanceTest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边界不是写在文档里靠人自觉，是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CI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里跑不过就合不进去。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3962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模块与治理：边界写在测试里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153650" y="171450"/>
            <a:ext cx="1466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03 · Modular Monolith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91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学习闭环：导入、组词、生成、学、复习&lt;/Text&gt;&#10;        &lt;Text style={{ fontSize: 16, color: 'rgba(255,255,255,0.72)' }}&gt;04 · Learning Loop&lt;/Text&gt;&#10;    &lt;/Box&gt;&#10;&#10;    &lt;Box style={{ flexDirection: 'column', width: 1160, height: 588, justifyContent: 'space-between' }}&gt;&#10;        &lt;Box style={{ flexDirection: 'row', gap: 34 }}&gt;&#10;            &lt;Box style={{ width: 720, flexDirection: 'column', gap: 10 }}&gt;&#10;                &lt;Image src=&quot;assets/biz_flow.png&quot; style={{ width: 720, height: 450, border: '1px solid #E5E7EB' }} /&gt;&#10;                &lt;Text style={{ fontSize: 14, color: '#8B97A8', lineHeight: 1.4 }}&gt;&#10;                    图 3-2　三段式闭环：资源准备 → 计划与内容生成 → 学习与复习，失败任务可在任务中心重试&#10;                &lt;/Text&gt;&#10;            &lt;/Box&gt;&#10;&#10;            &lt;Box style={{ width: 404, flexDirection: 'column', justifyContent: 'space-between' }}&gt;&#10;                &lt;Box style={{ flexDirection: 'column', gap: 5, paddingBottom: 14, borderBottom: '1px solid #E5E7EB' }}&gt;&#10;                    &lt;Text style={{ fontSize: 19, fontWeight: 'bold', color: '#1A2230' }}&gt;均分：单篇不超过 50 词&lt;/Text&gt;&#10;                    &lt;Text style={{ fontSize: 17, color: '#4A5568', lineHeight: 1.5 }}&gt;&#10;                        每日核心词按篇平分，篇间词量差不超过 1：80 词切成 2×40，120 词切成 3×40。&#10;                    &lt;/Text&gt;&#10;                &lt;/Box&gt;&#10;                &lt;Box style={{ flexDirection: 'column', gap: 5, paddingTop: 14, paddingBottom: 14, borderBottom: '1px solid #E5E7EB' }}&gt;&#10;                    &lt;Text style={{ fontSize: 19, fontWeight: 'bold', color: '#1A2230' }}&gt;版本：材料只追加不覆写&lt;/Text&gt;&#10;                    &lt;Text style={{ fontSize: 17, color: '#4A5568', lineHeight: 1.5 }}&gt;&#10;                        重新生成产生新的 revision，旧学习记录仍指向旧材料，已发生的学习不会被改写。&#10;                    &lt;/Text&gt;&#10;                &lt;/Box&gt;&#10;                &lt;Box style={{ flexDirection: 'column', gap: 5, paddingTop: 14, paddingBottom: 14, borderBottom: '1px solid #E5E7EB' }}&gt;&#10;                    &lt;Text style={{ fontSize: 19, fontWeight: 'bold', color: '#1A2230' }}&gt;回流：旧词可复习，不改归属&lt;/Text&gt;&#10;                    &lt;Text style={{ fontSize: 17, color: '#4A5568', lineHeight: 1.5 }}&gt;&#10;                        未掌握的旧词会回到后续场景，但仍记在原单元名下，历史统计口径不变。&#10;                    &lt;/Text&gt;&#10;                &lt;/Box&gt;&#10;                &lt;Box style={{ flexDirection: 'column', gap: 5, paddingTop: 14 }}&gt;&#10;                    &lt;Text style={{ fontSize: 19, fontWeight: 'bold', color: '#1A2230' }}&gt;落库：一次学习留四类记录&lt;/Text&gt;&#10;                    &lt;Text style={{ fontSize: 17, color: '#4A5568', lineHeight: 1.5 }}&gt;&#10;                        逐词进度、场景笔记、复习记录、活动日志，分别对应四张表，互不覆盖。&#10;                    &lt;/Text&gt;&#10;                &lt;/Box&gt;&#10;            &lt;/Box&gt;&#10;        &lt;/Box&gt;&#10;&#10;        &lt;Box style={{ flexDirection: 'row', background: '#F7F9FC', alignItems: 'center', padding: '14px 22px', gap: 14 }}&gt;&#10;            &lt;Box style={{ width: 3, height: 30, background: '#1E4FA8' }} /&gt;&#10;            &lt;Text style={{ fontSize: 18, color: '#1A2230' }}&gt;&#10;                闭环的判据不是「生成成功」，而是这次生成有没有留下一条可以复习的记录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5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571500" y="685800"/>
            <a:ext cx="6858000" cy="428625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19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71500" y="685800"/>
            <a:ext cx="6858000" cy="4286250"/>
          </a:xfrm>
          <a:prstGeom prst="rect">
            <a:avLst/>
          </a:prstGeom>
          <a:ln/>
        </p:spPr>
      </p:pic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71500" y="5067300"/>
            <a:ext cx="6858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图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3-2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三段式闭环：资源准备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→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计划与内容生成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→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学习与复习，失败任务可在任务中心重试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753350" y="685800"/>
            <a:ext cx="3848100" cy="1009650"/>
          </a:xfrm>
          <a:custGeom>
            <a:pathLst>
              <a:path w="404" h="106">
                <a:moveTo>
                  <a:pt x="0" y="105"/>
                </a:moveTo>
                <a:lnTo>
                  <a:pt x="404" y="105"/>
                </a:lnTo>
                <a:lnTo>
                  <a:pt x="404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753350" y="685800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均分：单篇不超过</a:t>
            </a: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 xml:space="preserve"> 50 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词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753350" y="952500"/>
            <a:ext cx="3848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每日核心词按篇平分，篇间词量差不超过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1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：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80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词切成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2×40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120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词切成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3×40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7753350" y="1800225"/>
            <a:ext cx="3848100" cy="1143000"/>
          </a:xfrm>
          <a:custGeom>
            <a:pathLst>
              <a:path w="404" h="120">
                <a:moveTo>
                  <a:pt x="0" y="119"/>
                </a:moveTo>
                <a:lnTo>
                  <a:pt x="404" y="119"/>
                </a:lnTo>
                <a:lnTo>
                  <a:pt x="404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753350" y="1933575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版本：材料只追加不覆写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753350" y="2200275"/>
            <a:ext cx="3848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重新生成产生新的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revision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，旧学习记录仍指向旧材料，已发生的学习不会被改写。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753350" y="3057525"/>
            <a:ext cx="3848100" cy="1143000"/>
          </a:xfrm>
          <a:custGeom>
            <a:pathLst>
              <a:path w="404" h="120">
                <a:moveTo>
                  <a:pt x="0" y="119"/>
                </a:moveTo>
                <a:lnTo>
                  <a:pt x="404" y="119"/>
                </a:lnTo>
                <a:lnTo>
                  <a:pt x="404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753350" y="3190875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回流：旧词可复习，不改归属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753350" y="3457575"/>
            <a:ext cx="3848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未掌握的旧词会回到后续场景，但仍记在原单元名下，历史统计口径不变。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753350" y="4438650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落库：一次学习留四类记录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753350" y="4705350"/>
            <a:ext cx="3848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逐词进度、场景笔记、复习记录、活动日志，分别对应四张表，互不覆盖。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6000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闭环的判据不是「生成成功」，而是这次生成有没有留下一条可以复习的记录。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5486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学习闭环：导入、组词、生成、学、复习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0344150" y="171450"/>
            <a:ext cx="127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04 · Learning Loop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15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AI 网关：供应商不进业务代码&lt;/Text&gt;&#10;        &lt;Text style={{ fontSize: 16, color: 'rgba(255,255,255,0.72)' }}&gt;05 · AI Gateway&lt;/Text&gt;&#10;    &lt;/Box&gt;&#10;&#10;    &lt;Box style={{ flexDirection: 'column', width: 1160, height: 588, justifyContent: 'space-between' }}&gt;&#10;        &lt;Box style={{ flexDirection: 'column', gap: 24 }}&gt;&#10;            &lt;Box style={{ flexDirection: 'row', alignItems: 'stretch' }}&gt;&#10;                &lt;Box style={{ width: 208, border: '1px solid #D6DCE5', padding: '12px 14px', flexDirection: 'column', gap: 4 }}&gt;&#10;                    &lt;Text style={{ fontSize: 15, fontWeight: 'bold', color: '#1E4FA8' }}&gt;① 场景声明&lt;/Text&gt;&#10;                    &lt;Text style={{ fontSize: 13, color: '#4A5568', lineHeight: 1.45 }}&gt;枚举写清：是否必须 JSON、必需根字段、允许变量&lt;/Text&gt;&#10;                &lt;/Box&gt;&#10;                &lt;Box style={{ width: 30, alignItems: 'center', justifyContent: 'center' }}&gt;&#10;                    &lt;Text style={{ fontSize: 18, color: '#3D7BD9' }}&gt;→&lt;/Text&gt;&#10;                &lt;/Box&gt;&#10;                &lt;Box style={{ width: 208, border: '1px solid #D6DCE5', padding: '12px 14px', flexDirection: 'column', gap: 4 }}&gt;&#10;                    &lt;Text style={{ fontSize: 15, fontWeight: 'bold', color: '#1E4FA8' }}&gt;② 请求适配&lt;/Text&gt;&#10;                    &lt;Text style={{ fontSize: 13, color: '#4A5568', lineHeight: 1.45 }}&gt;按供应商与协议拼 messages、temperature、max_tokens&lt;/Text&gt;&#10;                &lt;/Box&gt;&#10;                &lt;Box style={{ width: 30, alignItems: 'center', justifyContent: 'center' }}&gt;&#10;                    &lt;Text style={{ fontSize: 18, color: '#3D7BD9' }}&gt;→&lt;/Text&gt;&#10;                &lt;/Box&gt;&#10;                &lt;Box style={{ width: 208, border: '1px solid #D6DCE5', padding: '12px 14px', flexDirection: 'column', gap: 4 }}&gt;&#10;                    &lt;Text style={{ fontSize: 15, fontWeight: 'bold', color: '#1E4FA8' }}&gt;③ 上下文预算&lt;/Text&gt;&#10;                    &lt;Text style={{ fontSize: 13, color: '#4A5568', lineHeight: 1.45 }}&gt;按真实窗口与输出上限估算，逼近 90% 就拆分或拒绝&lt;/Text&gt;&#10;                &lt;/Box&gt;&#10;                &lt;Box style={{ width: 30, alignItems: 'center', justifyContent: 'center' }}&gt;&#10;                    &lt;Text style={{ fontSize: 18, color: '#3D7BD9' }}&gt;→&lt;/Text&gt;&#10;                &lt;/Box&gt;&#10;                &lt;Box style={{ width: 208, border: '1px solid #1E4FA8', padding: '12px 14px', flexDirection: 'column', gap: 4, background: '#F7F9FC' }}&gt;&#10;                    &lt;Text style={{ fontSize: 15, fontWeight: 'bold', color: '#1E4FA8' }}&gt;④ 模型供应商&lt;/Text&gt;&#10;                    &lt;Text style={{ fontSize: 13, color: '#4A5568', lineHeight: 1.45 }}&gt;DeepSeek、Kimi，统一走 OpenAI 兼容协议&lt;/Text&gt;&#10;                &lt;/Box&gt;&#10;                &lt;Box style={{ width: 30, alignItems: 'center', justifyContent: 'center' }}&gt;&#10;                    &lt;Text style={{ fontSize: 18, color: '#3D7BD9' }}&gt;→&lt;/Text&gt;&#10;                &lt;/Box&gt;&#10;                &lt;Box style={{ width: 208, border: '1px solid #D6DCE5', padding: '12px 14px', flexDirection: 'column', gap: 4 }}&gt;&#10;                    &lt;Text style={{ fontSize: 15, fontWeight: 'bold', color: '#1E4FA8' }}&gt;⑤ 解析与编解码&lt;/Text&gt;&#10;                    &lt;Text style={{ fontSize: 13, color: '#4A5568', lineHeight: 1.45 }}&gt;直读 JSON，失败剥代码块；别名归一化 + 根字段校验&lt;/Text&gt;&#10;                &lt;/Box&gt;&#10;            &lt;/Box&gt;&#10;&#10;            &lt;Box style={{ flexDirection: 'row', gap: 40 }}&gt;&#10;                &lt;Box style={{ width: 680, flexDirection: 'column' }}&gt;&#10;                    &lt;Text style={{ fontSize: 14, color: '#8B97A8', letterSpacing: 1 }}&gt;三处实现要点&lt;/Text&gt;&#10;                    &lt;Box style={{ flexDirection: 'column', gap: 0, marginTop: 14 }}&gt;&#10;                        &lt;Box style={{ flexDirection: 'row', gap: 14, paddingBottom: 14, borderBottom: '1px solid #E5E7EB' }}&gt;&#10;                            &lt;Text style={{ fontSize: 16, fontWeight: 'bold', color: '#3D7BD9', width: 26 }}&gt;01&lt;/Text&gt;&#10;                            &lt;Box style={{ flexDirection: 'column', gap: 4, width: 640 }}&gt;&#10;                                &lt;Text style={{ fontSize: 19, fontWeight: 'bold', color: '#1A2230' }}&gt;模型能力存库，不写死在代码里&lt;/Text&gt;&#10;                                &lt;Text style={{ fontSize: 17, color: '#4A5568', lineHeight: 1.5 }}&gt;&#10;                                    ai_model_config 存协议、上下文窗口、最大输出、适配器与密钥密文，换模型只改一条配置。&#10;                                &lt;/Text&gt;&#10;                            &lt;/Box&gt;&#10;                        &lt;/Box&gt;&#10;                        &lt;Box style={{ flexDirection: 'row', gap: 14, paddingTop: 14, paddingBottom: 14, borderBottom: '1px solid #E5E7EB' }}&gt;&#10;                            &lt;Text style={{ fontSize: 16, fontWeight: 'bold', color: '#3D7BD9', width: 26 }}&gt;02&lt;/Text&gt;&#10;                            &lt;Box style={{ flexDirection: 'column', gap: 4, width: 640 }}&gt;&#10;                                &lt;Text style={{ fontSize: 19, fontWeight: 'bold', color: '#1A2230' }}&gt;固定动作不带长期历史&lt;/Text&gt;&#10;                                &lt;Text style={{ fontSize: 17, color: '#4A5568', lineHeight: 1.5 }}&gt;&#10;                                    学习计划可以跑几个月，但每次词卡或场景生成只送当前任务数据，确需连续上下文才复用会话。&#10;                                &lt;/Text&gt;&#10;                            &lt;/Box&gt;&#10;                        &lt;/Box&gt;&#10;                        &lt;Box style={{ flexDirection: 'row', gap: 14, paddingTop: 14 }}&gt;&#10;                            &lt;Text style={{ fontSize: 16, fontWeight: 'bold', color: '#3D7BD9', width: 26 }}&gt;03&lt;/Text&gt;&#10;                            &lt;Box style={{ flexDirection: 'column', gap: 4, width: 640 }}&gt;&#10;                                &lt;Text style={{ fontSize: 19, fontWeight: 'bold', color: '#1A2230' }}&gt;缺字段定点重试，不整单重跑&lt;/Text&gt;&#10;                                &lt;Text style={{ fontSize: 17, color: '#4A5568', lineHeight: 1.5 }}&gt;&#10;                                    语法合法但缺必需字段时，追加纠正要求重试最多 2 次；网络、配额、内容安全类失败不进重试。&#10;                                &lt;/Text&gt;&#10;                            &lt;/Box&gt;&#10;                        &lt;/Box&gt;&#10;                    &lt;/Box&gt;&#10;                &lt;/Box&gt;&#10;&#10;                &lt;Box style={{ width: 440, flexDirection: 'column', border: '1px solid #D6DCE5', padding: '18px 22px', gap: 10 }}&gt;&#10;                    &lt;Text style={{ fontSize: 14, color: '#8B97A8', letterSpacing: 1 }}&gt;响应处理：四类结果的落点&lt;/Text&gt;&#10;                    &lt;Box style={{ flexDirection: 'row', gap: 10 }}&gt;&#10;                        &lt;Text style={{ fontSize: 17, color: '#1A2230', width: 150, fontWeight: 'bold' }}&gt;JSON 不合法&lt;/Text&gt;&#10;                        &lt;Text style={{ fontSize: 16, color: '#4A5568', width: 226 }}&gt;剥 Markdown 代码块，受限清洗后重解一次&lt;/Text&gt;&#10;                    &lt;/Box&gt;&#10;                    &lt;Box style={{ flexDirection: 'row', gap: 10 }}&gt;&#10;                        &lt;Text style={{ fontSize: 17, color: '#1A2230', width: 150, fontWeight: 'bold' }}&gt;缺必需字段&lt;/Text&gt;&#10;                        &lt;Text style={{ fontSize: 16, color: '#4A5568', width: 226 }}&gt;定点重试 ≤ 2 次，仍失败则标记该条目&lt;/Text&gt;&#10;                    &lt;/Box&gt;&#10;                    &lt;Box style={{ flexDirection: 'row', gap: 10 }}&gt;&#10;                        &lt;Text style={{ fontSize: 17, color: '#1A2230', width: 150, fontWeight: 'bold' }}&gt;部分条目有效&lt;/Text&gt;&#10;                        &lt;Text style={{ fontSize: 16, color: '#4A5568', width: 226 }}&gt;已验证的立即落库，缺失的下批再补&lt;/Text&gt;&#10;                    &lt;/Box&gt;&#10;                    &lt;Box style={{ flexDirection: 'row', gap: 10 }}&gt;&#10;                        &lt;Text style={{ fontSize: 17, color: '#D9534F', width: 150, fontWeight: 'bold' }}&gt;网络 / 配额 / 安全&lt;/Text&gt;&#10;                        &lt;Text style={{ fontSize: 16, color: '#4A5568', width: 226 }}&gt;直接失败，交给任务层重试或人工处理&lt;/Text&gt;&#10;                    &lt;/Box&gt;&#10;                    &lt;Text style={{ fontSize: 15, color: '#8B97A8', lineHeight: 1.5, marginTop: 4 }}&gt;&#10;                        审计只存元数据、Token 与耗时；API Key、完整 Prompt 与完整响应不入日志。&#10;                    &lt;/Text&gt;&#10;                &lt;/Box&gt;&#10;            &lt;/Box&gt;&#10;        &lt;/Box&gt;&#10;&#10;        &lt;Box style={{ flexDirection: 'row', background: '#F7F9FC', alignItems: 'center', padding: '14px 22px', gap: 14 }}&gt;&#10;            &lt;Box style={{ width: 3, height: 30, background: '#1E4FA8' }} /&gt;&#10;            &lt;Text style={{ fontSize: 18, color: '#1A2230' }}&gt;&#10;                业务代码里没有「如果是 A 供应商就怎样」的分支——换模型只改一条配置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6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571500" y="685800"/>
            <a:ext cx="1981200" cy="876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04850" y="8001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 xml:space="preserve">① </a:t>
            </a:r>
            <a:r>
              <a:rPr lang="zh-CN" sz="1125" b="1">
                <a:solidFill>
                  <a:srgbClr val="1E4FA8"/>
                </a:solidFill>
                <a:latin typeface="微软雅黑"/>
                <a:ea typeface="微软雅黑"/>
              </a:rPr>
              <a:t>场景声明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04850" y="1009650"/>
            <a:ext cx="171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枚举写清：是否必须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 xml:space="preserve"> JSON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、必需根字段、允许变量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2609850" y="10191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2838450" y="685800"/>
            <a:ext cx="1981200" cy="876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971800" y="8001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 xml:space="preserve">② </a:t>
            </a:r>
            <a:r>
              <a:rPr lang="zh-CN" sz="1125" b="1">
                <a:solidFill>
                  <a:srgbClr val="1E4FA8"/>
                </a:solidFill>
                <a:latin typeface="微软雅黑"/>
                <a:ea typeface="微软雅黑"/>
              </a:rPr>
              <a:t>请求适配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971800" y="1009650"/>
            <a:ext cx="171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按供应商与协议拼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 xml:space="preserve"> messages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、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>temperature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、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>max_tokens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876800" y="10191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105400" y="685800"/>
            <a:ext cx="1981200" cy="876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238750" y="8001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 xml:space="preserve">③ </a:t>
            </a:r>
            <a:r>
              <a:rPr lang="zh-CN" sz="1125" b="1">
                <a:solidFill>
                  <a:srgbClr val="1E4FA8"/>
                </a:solidFill>
                <a:latin typeface="微软雅黑"/>
                <a:ea typeface="微软雅黑"/>
              </a:rPr>
              <a:t>上下文预算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238750" y="1009650"/>
            <a:ext cx="171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按真实窗口与输出上限估算，逼近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 xml:space="preserve"> 90% 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就拆分或拒绝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143750" y="10191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372350" y="685800"/>
            <a:ext cx="1981200" cy="876300"/>
          </a:xfrm>
          <a:prstGeom prst="rect">
            <a:avLst/>
          </a:prstGeom>
          <a:solidFill>
            <a:srgbClr val="F7F9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505700" y="8001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 xml:space="preserve">④ </a:t>
            </a:r>
            <a:r>
              <a:rPr lang="zh-CN" sz="1125" b="1">
                <a:solidFill>
                  <a:srgbClr val="1E4FA8"/>
                </a:solidFill>
                <a:latin typeface="微软雅黑"/>
                <a:ea typeface="微软雅黑"/>
              </a:rPr>
              <a:t>模型供应商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505700" y="1009650"/>
            <a:ext cx="171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>DeepSeek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、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>Kimi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，统一走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 xml:space="preserve"> OpenAI 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兼容协议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410700" y="10191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9639300" y="685800"/>
            <a:ext cx="1981200" cy="876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772650" y="8001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 xml:space="preserve">⑤ </a:t>
            </a:r>
            <a:r>
              <a:rPr lang="zh-CN" sz="1125" b="1">
                <a:solidFill>
                  <a:srgbClr val="1E4FA8"/>
                </a:solidFill>
                <a:latin typeface="微软雅黑"/>
                <a:ea typeface="微软雅黑"/>
              </a:rPr>
              <a:t>解析与编解码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772650" y="1009650"/>
            <a:ext cx="171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直读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 xml:space="preserve"> JSON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，失败剥代码块；别名归一化</a:t>
            </a:r>
            <a:r>
              <a:rPr lang="en-US" sz="975">
                <a:solidFill>
                  <a:srgbClr val="4A5568"/>
                </a:solidFill>
                <a:latin typeface="微软雅黑"/>
                <a:ea typeface="微软雅黑"/>
              </a:rPr>
              <a:t xml:space="preserve"> + </a:t>
            </a:r>
            <a:r>
              <a:rPr lang="zh-CN" sz="975">
                <a:solidFill>
                  <a:srgbClr val="4A5568"/>
                </a:solidFill>
                <a:latin typeface="微软雅黑"/>
                <a:ea typeface="微软雅黑"/>
              </a:rPr>
              <a:t>根字段校验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71500" y="1790700"/>
            <a:ext cx="647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三处实现要点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571500" y="2085975"/>
            <a:ext cx="6477000" cy="1000125"/>
          </a:xfrm>
          <a:custGeom>
            <a:pathLst>
              <a:path w="680" h="105">
                <a:moveTo>
                  <a:pt x="0" y="104"/>
                </a:moveTo>
                <a:lnTo>
                  <a:pt x="680" y="104"/>
                </a:lnTo>
                <a:lnTo>
                  <a:pt x="680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71500" y="2085975"/>
            <a:ext cx="24765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52500" y="2085975"/>
            <a:ext cx="609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模型能力存库，不写死在代码里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52500" y="2343150"/>
            <a:ext cx="6096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ai_model_config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存协议、上下文窗口、最大输出、适配器与密钥密文，换模型只改一条配置。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571500" y="3076575"/>
            <a:ext cx="6477000" cy="1133475"/>
          </a:xfrm>
          <a:custGeom>
            <a:pathLst>
              <a:path w="680" h="119">
                <a:moveTo>
                  <a:pt x="0" y="118"/>
                </a:moveTo>
                <a:lnTo>
                  <a:pt x="680" y="118"/>
                </a:lnTo>
                <a:lnTo>
                  <a:pt x="680" y="119"/>
                </a:lnTo>
                <a:lnTo>
                  <a:pt x="0" y="11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24765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52500" y="3209925"/>
            <a:ext cx="609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固定动作不带长期历史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52500" y="3467100"/>
            <a:ext cx="6096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学习计划可以跑几个月，但每次词卡或场景生成只送当前任务数据，确需连续上下文才复用会话。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1500" y="4333875"/>
            <a:ext cx="24765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52500" y="4333875"/>
            <a:ext cx="609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缺字段定点重试，不整单重跑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52500" y="4591050"/>
            <a:ext cx="6096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语法合法但缺必需字段时，追加纠正要求重试最多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2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次；网络、配额、内容安全类失败不进重试。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429500" y="1790700"/>
            <a:ext cx="4191000" cy="33909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639050" y="196215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响应处理：四类结果的落点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639050" y="2219325"/>
            <a:ext cx="1428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微软雅黑"/>
                <a:ea typeface="微软雅黑"/>
              </a:rPr>
              <a:t xml:space="preserve">JSON 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不合法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163050" y="2219325"/>
            <a:ext cx="21526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剥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 Markdown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代码块，受限清洗后重解一次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639050" y="2686050"/>
            <a:ext cx="1428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缺必需字段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163050" y="2686050"/>
            <a:ext cx="21526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定点重试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 ≤ 2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次，仍失败则标记该条目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639050" y="3152775"/>
            <a:ext cx="1428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部分条目有效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163050" y="3152775"/>
            <a:ext cx="21526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已验证的立即落库，缺失的下批再补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639050" y="3619500"/>
            <a:ext cx="1428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534F"/>
                </a:solidFill>
                <a:latin typeface="微软雅黑"/>
                <a:ea typeface="微软雅黑"/>
              </a:rPr>
              <a:t>网络</a:t>
            </a:r>
            <a:r>
              <a:rPr lang="en-US" sz="1275" b="1">
                <a:solidFill>
                  <a:srgbClr val="D9534F"/>
                </a:solidFill>
                <a:latin typeface="微软雅黑"/>
                <a:ea typeface="微软雅黑"/>
              </a:rPr>
              <a:t xml:space="preserve"> / </a:t>
            </a:r>
            <a:r>
              <a:rPr lang="zh-CN" sz="1275" b="1">
                <a:solidFill>
                  <a:srgbClr val="D9534F"/>
                </a:solidFill>
                <a:latin typeface="微软雅黑"/>
                <a:ea typeface="微软雅黑"/>
              </a:rPr>
              <a:t>配额</a:t>
            </a:r>
            <a:r>
              <a:rPr lang="en-US" sz="1275" b="1">
                <a:solidFill>
                  <a:srgbClr val="D9534F"/>
                </a:solidFill>
                <a:latin typeface="微软雅黑"/>
                <a:ea typeface="微软雅黑"/>
              </a:rPr>
              <a:t xml:space="preserve"> / </a:t>
            </a:r>
            <a:r>
              <a:rPr lang="zh-CN" sz="1275" b="1">
                <a:solidFill>
                  <a:srgbClr val="D9534F"/>
                </a:solidFill>
                <a:latin typeface="微软雅黑"/>
                <a:ea typeface="微软雅黑"/>
              </a:rPr>
              <a:t>安全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163050" y="3619500"/>
            <a:ext cx="21526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直接失败，交给任务层重试或人工处理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39050" y="4124325"/>
            <a:ext cx="3771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审计只存元数据、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 xml:space="preserve">Token 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与耗时；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API Key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、完整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 xml:space="preserve"> Prompt 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与完整响应不入日志。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5876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业务代码里没有「如果是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A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供应商就怎样」的分支——换模型只改一条配置。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40481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 xml:space="preserve">AI </a:t>
            </a: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网关：供应商不进业务代码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0534650" y="1714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05 · AI Gateway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67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长任务：不占事务，失败不丢结果&lt;/Text&gt;&#10;        &lt;Text style={{ fontSize: 16, color: 'rgba(255,255,255,0.72)' }}&gt;06 · Async &amp; Consistency&lt;/Text&gt;&#10;    &lt;/Box&gt;&#10;&#10;    &lt;Box style={{ flexDirection: 'column', width: 1160, height: 588, justifyContent: 'space-between' }}&gt;&#10;        &lt;Box style={{ flexDirection: 'row', gap: 22 }}&gt;&#10;            &lt;Box style={{ width: 372, flexDirection: 'column' }}&gt;&#10;                &lt;Text style={{ fontSize: 14, color: '#8B97A8', letterSpacing: 1 }}&gt;任务记录分三层&lt;/Text&gt;&#10;                &lt;Box style={{ flexDirection: 'column', gap: 0, marginTop: 16 }}&gt;&#10;                    &lt;Box style={{ flexDirection: 'column', gap: 4, paddingBottom: 14, borderBottom: '1px solid #E5E7EB' }}&gt;&#10;                        &lt;Text style={{ fontSize: 18, fontWeight: 'bold', color: '#1E4FA8' }}&gt;task　一次生成&lt;/Text&gt;&#10;                        &lt;Text style={{ fontSize: 16, color: '#4A5568', lineHeight: 1.5 }}&gt;learning_ai_async_task：预约、取消、终态与重试次数&lt;/Text&gt;&#10;                    &lt;/Box&gt;&#10;                    &lt;Box style={{ flexDirection: 'column', gap: 4, paddingTop: 14, paddingBottom: 14, borderBottom: '1px solid #E5E7EB' }}&gt;&#10;                        &lt;Text style={{ fontSize: 18, fontWeight: 'bold', color: '#1E4FA8' }}&gt;step　一段工序&lt;/Text&gt;&#10;                        &lt;Text style={{ fontSize: 16, color: '#4A5568', lineHeight: 1.5 }}&gt;_step：词表分析、词卡、场景、音频各自成步&lt;/Text&gt;&#10;                    &lt;/Box&gt;&#10;                    &lt;Box style={{ flexDirection: 'column', gap: 4, paddingTop: 14 }}&gt;&#10;                        &lt;Text style={{ fontSize: 18, fontWeight: 'bold', color: '#1E4FA8' }}&gt;attempt　一次尝试&lt;/Text&gt;&#10;                        &lt;Text style={{ fontSize: 16, color: '#4A5568', lineHeight: 1.5 }}&gt;_attempt：同一步的第几次、错在哪个字段&lt;/Text&gt;&#10;                    &lt;/Box&gt;&#10;                &lt;/Box&gt;&#10;                &lt;Text style={{ fontSize: 16, color: '#4A5568', lineHeight: 1.55, marginTop: 20, paddingTop: 16, borderTop: '1px solid #E5E7EB' }}&gt;&#10;                    三层拆开之后，重试的粒度是「那一步的那一次」，不是整条任务从头再来。&#10;                &lt;/Text&gt;&#10;            &lt;/Box&gt;&#10;&#10;            &lt;Box style={{ width: 448, flexDirection: 'column', borderLeft: '1px solid #E5E7EB', borderRight: '1px solid #E5E7EB', paddingLeft: 24, paddingRight: 24 }}&gt;&#10;                &lt;Text style={{ fontSize: 14, color: '#8B97A8', letterSpacing: 1 }}&gt;事务边界怎么划&lt;/Text&gt;&#10;                &lt;Box style={{ flexDirection: 'column', gap: 12, marginTop: 16 }}&gt;&#10;                    &lt;Box style={{ flexDirection: 'row', gap: 12, alignItems: 'flex-start' }}&gt;&#10;                        &lt;Box style={{ width: 24, height: 24, background: '#1E4FA8', alignItems: 'center', justifyContent: 'center' }}&gt;&#10;                            &lt;Text style={{ fontSize: 13, fontWeight: 'bold', color: '#FFFFFF' }}&gt;1&lt;/Text&gt;&#10;                        &lt;/Box&gt;&#10;                        &lt;Text style={{ fontSize: 17, color: '#1A2230', lineHeight: 1.5, width: 388 }}&gt;&#10;                            请求进来先建任务，短事务里把 pending 原子领取成 running。&#10;                        &lt;/Text&gt;&#10;                    &lt;/Box&gt;&#10;                    &lt;Box style={{ flexDirection: 'row', gap: 12, alignItems: 'flex-start' }}&gt;&#10;                        &lt;Box style={{ width: 24, height: 24, background: '#1E4FA8', alignItems: 'center', justifyContent: 'center' }}&gt;&#10;                            &lt;Text style={{ fontSize: 13, fontWeight: 'bold', color: '#FFFFFF' }}&gt;2&lt;/Text&gt;&#10;                        &lt;/Box&gt;&#10;                        &lt;Text style={{ fontSize: 17, color: '#1A2230', lineHeight: 1.5, width: 388 }}&gt;&#10;                            事务提交后发事件，外部调用交给有界 aiTaskExecutor。&#10;                        &lt;/Text&gt;&#10;                    &lt;/Box&gt;&#10;                    &lt;Box style={{ flexDirection: 'row', gap: 12, alignItems: 'flex-start' }}&gt;&#10;                        &lt;Box style={{ width: 24, height: 24, background: '#1E4FA8', alignItems: 'center', justifyContent: 'center' }}&gt;&#10;                            &lt;Text style={{ fontSize: 13, fontWeight: 'bold', color: '#FFFFFF' }}&gt;3&lt;/Text&gt;&#10;                        &lt;/Box&gt;&#10;                        &lt;Text style={{ fontSize: 17, color: '#1A2230', lineHeight: 1.5, width: 388 }}&gt;&#10;                            结果回写靠业务唯一约束或幂等更新，不靠「只跑一次」。&#10;                        &lt;/Text&gt;&#10;                    &lt;/Box&gt;&#10;                    &lt;Box style={{ flexDirection: 'row', gap: 12, alignItems: 'flex-start' }}&gt;&#10;                        &lt;Box style={{ width: 24, height: 24, background: '#1E4FA8', alignItems: 'center', justifyContent: 'center' }}&gt;&#10;                            &lt;Text style={{ fontSize: 13, fontWeight: 'bold', color: '#FFFFFF' }}&gt;4&lt;/Text&gt;&#10;                        &lt;/Box&gt;&#10;                        &lt;Text style={{ fontSize: 17, color: '#1A2230', lineHeight: 1.5, width: 388 }}&gt;&#10;                            绝不在事务内等模型 HTTP；拒绝策略也不把任务退回请求线程。&#10;                        &lt;/Text&gt;&#10;                    &lt;/Box&gt;&#10;                &lt;/Box&gt;&#10;                &lt;Box style={{ flexDirection: 'column', gap: 6, marginTop: 20, paddingTop: 16, borderTop: '1px solid #E5E7EB' }}&gt;&#10;                    &lt;Text style={{ fontSize: 16, fontWeight: 'bold', color: '#1A2230' }}&gt;为什么不在事务里调模型&lt;/Text&gt;&#10;                    &lt;Text style={{ fontSize: 16, color: '#4A5568', lineHeight: 1.55 }}&gt;&#10;                        一次场景生成要几十秒，事务开着就锁着连接与行；模型超时还会把已经写好的业务状态一起回滚。&#10;                    &lt;/Text&gt;&#10;                &lt;/Box&gt;&#10;            &lt;/Box&gt;&#10;&#10;            &lt;Box style={{ width: 296, flexDirection: 'column' }}&gt;&#10;                &lt;Text style={{ fontSize: 14, color: '#8B97A8', letterSpacing: 1 }}&gt;一致性分三条边界&lt;/Text&gt;&#10;                &lt;Box style={{ flexDirection: 'column', gap: 16, marginTop: 16 }}&gt;&#10;                    &lt;Box style={{ flexDirection: 'column', gap: 3 }}&gt;&#10;                        &lt;Text style={{ fontSize: 18, fontWeight: 'bold', color: '#1A2230' }}&gt;共享缓存 · 可刷新&lt;/Text&gt;&#10;                        &lt;Text style={{ fontSize: 16, color: '#4A5568', lineHeight: 1.5 }}&gt;&#10;                            公共词卡与语义分析结果，按规则刷新以压低重复调用。&#10;                        &lt;/Text&gt;&#10;                    &lt;/Box&gt;&#10;                    &lt;Box style={{ flexDirection: 'column', gap: 3 }}&gt;&#10;                        &lt;Text style={{ fontSize: 18, fontWeight: 'bold', color: '#1A2230' }}&gt;个人快照 · 不可冲掉&lt;/Text&gt;&#10;                        &lt;Text style={{ fontSize: 16, color: '#4A5568', lineHeight: 1.5 }}&gt;&#10;                            笔记、掌握度、复习排期存个人快照，公共缓存刷新不影响。&#10;                        &lt;/Text&gt;&#10;                    &lt;/Box&gt;&#10;                    &lt;Box style={{ flexDirection: 'column', gap: 3 }}&gt;&#10;                        &lt;Text style={{ fontSize: 18, fontWeight: 'bold', color: '#1A2230' }}&gt;生成历史 · 只追加&lt;/Text&gt;&#10;                        &lt;Text style={{ fontSize: 16, color: '#4A5568', lineHeight: 1.5 }}&gt;&#10;                            材料按 revision 追加，旧记录永远指得回当时的文章。&#10;                        &lt;/Text&gt;&#10;                    &lt;/Box&gt;&#10;                &lt;/Box&gt;&#10;                &lt;Box style={{ flexDirection: 'column', gap: 4, marginTop: 18, paddingTop: 14, borderTop: '1px solid #E5E7EB' }}&gt;&#10;                    &lt;Text style={{ fontSize: 16, fontWeight: 'bold', color: '#1A2230' }}&gt;审计走 Outbox&lt;/Text&gt;&#10;                    &lt;Text style={{ fontSize: 15, color: '#4A5568', lineHeight: 1.5 }}&gt;&#10;                        事务内写日志事件，提交后异步落库；落库失败只丢日志，不回滚业务。&#10;                    &lt;/Text&gt;&#10;                &lt;/Box&gt;&#10;            &lt;/Box&gt;&#10;        &lt;/Box&gt;&#10;&#10;        &lt;Box style={{ flexDirection: 'row', alignItems: 'stretch' }}&gt;&#10;            &lt;Box style={{ width: 211, border: '1px solid #D6DCE5', padding: '10px 12px', flexDirection: 'column', gap: 2 }}&gt;&#10;                &lt;Text style={{ fontSize: 15, fontWeight: 'bold', color: '#1A2230' }}&gt;pending&lt;/Text&gt;&#10;                &lt;Text style={{ fontSize: 13, color: '#8B97A8' }}&gt;已创建，等执行器&lt;/Text&gt;&#10;            &lt;/Box&gt;&#10;            &lt;Box style={{ width: 26, alignItems: 'center', justifyContent: 'center' }}&gt;&#10;                &lt;Text style={{ fontSize: 16, color: '#3D7BD9' }}&gt;→&lt;/Text&gt;&#10;            &lt;/Box&gt;&#10;            &lt;Box style={{ width: 211, border: '1px solid #D6DCE5', padding: '10px 12px', flexDirection: 'column', gap: 2 }}&gt;&#10;                &lt;Text style={{ fontSize: 15, fontWeight: 'bold', color: '#1A2230' }}&gt;running&lt;/Text&gt;&#10;                &lt;Text style={{ fontSize: 13, color: '#8B97A8' }}&gt;原子领取，写 step 状态&lt;/Text&gt;&#10;            &lt;/Box&gt;&#10;            &lt;Box style={{ width: 26, alignItems: 'center', justifyContent: 'center' }}&gt;&#10;                &lt;Text style={{ fontSize: 16, color: '#3D7BD9' }}&gt;→&lt;/Text&gt;&#10;            &lt;/Box&gt;&#10;            &lt;Box style={{ width: 211, border: '1px solid #D6DCE5', padding: '10px 12px', flexDirection: 'column', gap: 2 }}&gt;&#10;                &lt;Text style={{ fontSize: 15, fontWeight: 'bold', color: '#1A2230' }}&gt;succeeded&lt;/Text&gt;&#10;                &lt;Text style={{ fontSize: 13, color: '#8B97A8' }}&gt;结果落库，触发后续业务&lt;/Text&gt;&#10;            &lt;/Box&gt;&#10;            &lt;Box style={{ width: 26, alignItems: 'center', justifyContent: 'center' }}&gt;&#10;                &lt;Text style={{ fontSize: 16, color: '#3D7BD9' }}&gt;→&lt;/Text&gt;&#10;            &lt;/Box&gt;&#10;            &lt;Box style={{ width: 211, border: '1px solid #D6DCE5', padding: '10px 12px', flexDirection: 'column', gap: 2 }}&gt;&#10;                &lt;Text style={{ fontSize: 15, fontWeight: 'bold', color: '#1A2230' }}&gt;partial&lt;/Text&gt;&#10;                &lt;Text style={{ fontSize: 13, color: '#8B97A8' }}&gt;有效条目入库，缺失批补跑&lt;/Text&gt;&#10;            &lt;/Box&gt;&#10;            &lt;Box style={{ width: 26, alignItems: 'center', justifyContent: 'center' }}&gt;&#10;                &lt;Text style={{ fontSize: 16, color: '#3D7BD9' }}&gt;→&lt;/Text&gt;&#10;            &lt;/Box&gt;&#10;            &lt;Box style={{ width: 211, border: '1px solid #D6DCE5', padding: '10px 12px', flexDirection: 'column', gap: 2, background: '#F7F9FC' }}&gt;&#10;                &lt;Text style={{ fontSize: 15, fontWeight: 'bold', color: '#1A2230' }}&gt;failed&lt;/Text&gt;&#10;                &lt;Text style={{ fontSize: 13, color: '#8B97A8' }}&gt;只重试失败项，可人工介入&lt;/Text&gt;&#10;            &lt;/Box&gt;&#10;        &lt;/Box&gt;&#10;&#10;        &lt;Box style={{ flexDirection: 'row', background: '#F7F9FC', alignItems: 'center', padding: '14px 22px', gap: 14 }}&gt;&#10;            &lt;Box style={{ width: 3, height: 30, background: '#1E4FA8' }} /&gt;&#10;            &lt;Text style={{ fontSize: 18, color: '#1A2230' }}&gt;&#10;                异步不是为了跑得快，是为了让失败可恢复，也让事务不被外部 HTTP 拖住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7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71500" y="685800"/>
            <a:ext cx="354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任务记录分三层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571500" y="1000125"/>
            <a:ext cx="3543300" cy="952500"/>
          </a:xfrm>
          <a:custGeom>
            <a:pathLst>
              <a:path w="372" h="100">
                <a:moveTo>
                  <a:pt x="0" y="99"/>
                </a:moveTo>
                <a:lnTo>
                  <a:pt x="372" y="99"/>
                </a:lnTo>
                <a:lnTo>
                  <a:pt x="37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71500" y="1000125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微软雅黑"/>
                <a:ea typeface="微软雅黑"/>
              </a:rPr>
              <a:t>task</a:t>
            </a: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　一次生成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71500" y="1247775"/>
            <a:ext cx="3543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learning_ai_async_task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：预约、取消、终态与重试次数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71500" y="1943100"/>
            <a:ext cx="3543300" cy="809625"/>
          </a:xfrm>
          <a:custGeom>
            <a:pathLst>
              <a:path w="372" h="85">
                <a:moveTo>
                  <a:pt x="0" y="84"/>
                </a:moveTo>
                <a:lnTo>
                  <a:pt x="372" y="84"/>
                </a:lnTo>
                <a:lnTo>
                  <a:pt x="372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0" y="2076450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微软雅黑"/>
                <a:ea typeface="微软雅黑"/>
              </a:rPr>
              <a:t>step</a:t>
            </a: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　一段工序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71500" y="2324100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_step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：词表分析、词卡、场景、音频各自成步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71500" y="2876550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微软雅黑"/>
                <a:ea typeface="微软雅黑"/>
              </a:rPr>
              <a:t>attempt</a:t>
            </a: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　一次尝试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71500" y="3124200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_attempt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：同一步的第几次、错在哪个字段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71500" y="3590925"/>
            <a:ext cx="3543300" cy="723900"/>
          </a:xfrm>
          <a:prstGeom prst="rect"/>
        </p:spPr>
        <p:txBody>
          <a:bodyPr wrap="square" lIns="0" tIns="11430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三层拆开之后，重试的粒度是「那一步的那一次」，不是整条任务从头再来。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4324350" y="685800"/>
            <a:ext cx="4267200" cy="4191000"/>
          </a:xfrm>
          <a:custGeom>
            <a:pathLst>
              <a:path w="448" h="440">
                <a:moveTo>
                  <a:pt x="0" y="0"/>
                </a:moveTo>
                <a:lnTo>
                  <a:pt x="1" y="0"/>
                </a:lnTo>
                <a:lnTo>
                  <a:pt x="1" y="440"/>
                </a:lnTo>
                <a:lnTo>
                  <a:pt x="0" y="44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4324350" y="685800"/>
            <a:ext cx="4267200" cy="4191000"/>
          </a:xfrm>
          <a:custGeom>
            <a:pathLst>
              <a:path w="448" h="440">
                <a:moveTo>
                  <a:pt x="447" y="0"/>
                </a:moveTo>
                <a:lnTo>
                  <a:pt x="448" y="0"/>
                </a:lnTo>
                <a:lnTo>
                  <a:pt x="448" y="440"/>
                </a:lnTo>
                <a:lnTo>
                  <a:pt x="447" y="44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562475" y="685800"/>
            <a:ext cx="3790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事务边界怎么划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4562475" y="1000125"/>
            <a:ext cx="2286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638675" y="10382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886325" y="1000125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请求进来先建任务，短事务里把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 xml:space="preserve"> pending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原子领取成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 xml:space="preserve"> running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4562475" y="1704975"/>
            <a:ext cx="2286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638675" y="17430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886325" y="1704975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事务提交后发事件，外部调用交给有界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 xml:space="preserve"> aiTaskExecutor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4562475" y="2409825"/>
            <a:ext cx="2286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638675" y="24479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886325" y="2409825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结果回写靠业务唯一约束或幂等更新，不靠「只跑一次」。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4562475" y="3114675"/>
            <a:ext cx="2286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638675" y="31527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886325" y="3114675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绝不在事务内等模型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 xml:space="preserve"> HTTP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；拒绝策略也不把任务退回请求线程。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562475" y="3895725"/>
            <a:ext cx="3790950" cy="990600"/>
          </a:xfrm>
          <a:custGeom>
            <a:pathLst>
              <a:path w="398" h="104">
                <a:moveTo>
                  <a:pt x="0" y="0"/>
                </a:moveTo>
                <a:lnTo>
                  <a:pt x="398" y="0"/>
                </a:lnTo>
                <a:lnTo>
                  <a:pt x="39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562475" y="4057650"/>
            <a:ext cx="3790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为什么不在事务里调模型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562475" y="4305300"/>
            <a:ext cx="3790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一次场景生成要几十秒，事务开着就锁着连接与行；模型超时还会把已经写好的业务状态一起回滚。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801100" y="68580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一致性分三条边界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801100" y="1000125"/>
            <a:ext cx="281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共享缓存</a:t>
            </a: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可刷新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801100" y="1238250"/>
            <a:ext cx="2819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公共词卡与语义分析结果，按规则刷新以压低重复调用。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801100" y="1943100"/>
            <a:ext cx="281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个人快照</a:t>
            </a: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不可冲掉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801100" y="2181225"/>
            <a:ext cx="2819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笔记、掌握度、复习排期存个人快照，公共缓存刷新不影响。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801100" y="2886075"/>
            <a:ext cx="281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生成历史</a:t>
            </a: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只追加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801100" y="3124200"/>
            <a:ext cx="2819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材料按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 revision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追加，旧记录永远指得回当时的文章。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8801100" y="3848100"/>
            <a:ext cx="2819400" cy="895350"/>
          </a:xfrm>
          <a:custGeom>
            <a:pathLst>
              <a:path w="296" h="94">
                <a:moveTo>
                  <a:pt x="0" y="0"/>
                </a:moveTo>
                <a:lnTo>
                  <a:pt x="296" y="0"/>
                </a:lnTo>
                <a:lnTo>
                  <a:pt x="29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801100" y="3990975"/>
            <a:ext cx="2819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审计走</a:t>
            </a:r>
            <a:r>
              <a:rPr lang="en-US" sz="1200" b="1">
                <a:solidFill>
                  <a:srgbClr val="1A2230"/>
                </a:solidFill>
                <a:latin typeface="微软雅黑"/>
                <a:ea typeface="微软雅黑"/>
              </a:rPr>
              <a:t xml:space="preserve"> Outbox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801100" y="4219575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事务内写日志事件，提交后异步落库；落库失败只丢日志，不回滚业务。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571500" y="5038725"/>
            <a:ext cx="2009775" cy="5334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85800" y="51339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/>
                <a:ea typeface="微软雅黑"/>
              </a:rPr>
              <a:t>pending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85800" y="5324475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/>
                <a:ea typeface="微软雅黑"/>
              </a:rPr>
              <a:t>已创建，等执行器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2628900" y="52101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2828925" y="5038725"/>
            <a:ext cx="2009775" cy="5334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2943225" y="51339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/>
                <a:ea typeface="微软雅黑"/>
              </a:rPr>
              <a:t>running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943225" y="5324475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/>
                <a:ea typeface="微软雅黑"/>
              </a:rPr>
              <a:t>原子领取，写</a:t>
            </a:r>
            <a:r>
              <a:rPr lang="en-US" sz="975">
                <a:solidFill>
                  <a:srgbClr val="8B97A8"/>
                </a:solidFill>
                <a:latin typeface="微软雅黑"/>
                <a:ea typeface="微软雅黑"/>
              </a:rPr>
              <a:t xml:space="preserve"> step </a:t>
            </a:r>
            <a:r>
              <a:rPr lang="zh-CN" sz="975">
                <a:solidFill>
                  <a:srgbClr val="8B97A8"/>
                </a:solidFill>
                <a:latin typeface="微软雅黑"/>
                <a:ea typeface="微软雅黑"/>
              </a:rPr>
              <a:t>状态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886325" y="52101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086350" y="5038725"/>
            <a:ext cx="2009775" cy="5334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200650" y="51339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/>
                <a:ea typeface="微软雅黑"/>
              </a:rPr>
              <a:t>succeeded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200650" y="5324475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/>
                <a:ea typeface="微软雅黑"/>
              </a:rPr>
              <a:t>结果落库，触发后续业务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143750" y="52101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7343775" y="5038725"/>
            <a:ext cx="2009775" cy="5334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458075" y="51339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/>
                <a:ea typeface="微软雅黑"/>
              </a:rPr>
              <a:t>partial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458075" y="5324475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/>
                <a:ea typeface="微软雅黑"/>
              </a:rPr>
              <a:t>有效条目入库，缺失批补跑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9401175" y="52101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D7BD9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9601200" y="5038725"/>
            <a:ext cx="2009775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9715500" y="51339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/>
                <a:ea typeface="微软雅黑"/>
              </a:rPr>
              <a:t>failed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715500" y="5324475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/>
                <a:ea typeface="微软雅黑"/>
              </a:rPr>
              <a:t>只重试失败项，可人工介入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5857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异步不是为了跑得快，是为了让失败可恢复，也让事务不被外部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HTTP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拖住。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4572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长任务：不占事务，失败不丢结果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886950" y="171450"/>
            <a:ext cx="1733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06 · Async &amp; Consistency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34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功能落地：四个真实页面&lt;/Text&gt;&#10;        &lt;Text style={{ fontSize: 16, color: 'rgba(255,255,255,0.72)' }}&gt;07 · Implementation&lt;/Text&gt;&#10;    &lt;/Box&gt;&#10;&#10;    &lt;Box style={{ flexDirection: 'row', width: 1160, height: 588, gap: 32 }}&gt;&#10;        &lt;Box style={{ width: 452, flexDirection: 'column', gap: 14 }}&gt;&#10;            &lt;Box style={{ flexDirection: 'column', gap: 6 }}&gt;&#10;                &lt;Image src=&quot;assets/ui_challenge.png&quot; style={{ width: 452, height: 247, border: '1px solid #D6DCE5' }} /&gt;&#10;                &lt;Text style={{ fontSize: 16, color: '#1A2230' }}&gt;&#10;                    &lt;span style={{ fontWeight: 'bold' }}&gt;词汇大挑战&lt;/span&gt;　151/5087 词，按周排计划&#10;                &lt;/Text&gt;&#10;            &lt;/Box&gt;&#10;            &lt;Box style={{ flexDirection: 'column', gap: 6 }}&gt;&#10;                &lt;Image src=&quot;assets/ui_reading.png&quot; style={{ width: 452, height: 247, border: '1px solid #D6DCE5' }} /&gt;&#10;                &lt;Text style={{ fontSize: 16, color: '#1A2230' }}&gt;&#10;                    &lt;span style={{ fontWeight: 'bold' }}&gt;语境精读&lt;/span&gt;　8 句原文，核心词高亮可点&#10;                &lt;/Text&gt;&#10;            &lt;/Box&gt;&#10;        &lt;/Box&gt;&#10;&#10;        &lt;Box style={{ width: 452, flexDirection: 'column', gap: 14 }}&gt;&#10;            &lt;Box style={{ flexDirection: 'column', gap: 6 }}&gt;&#10;                &lt;Image src=&quot;assets/ui_scene.png&quot; style={{ width: 452, height: 247, border: '1px solid #D6DCE5' }} /&gt;&#10;                &lt;Text style={{ fontSize: 16, color: '#1A2230' }}&gt;&#10;                    &lt;span style={{ fontWeight: 'bold' }}&gt;场景文章&lt;/span&gt;　37 个待挑战词，译文可折叠&#10;                &lt;/Text&gt;&#10;            &lt;/Box&gt;&#10;            &lt;Box style={{ flexDirection: 'column', gap: 6 }}&gt;&#10;                &lt;Image src=&quot;assets/ui_review.png&quot; style={{ width: 452, height: 247, border: '1px solid #D6DCE5' }} /&gt;&#10;                &lt;Text style={{ fontSize: 16, color: '#1A2230' }}&gt;&#10;                    &lt;span style={{ fontWeight: 'bold' }}&gt;复习跟敲&lt;/span&gt;　逐字输入 a-b-i-l-i-t-y&#10;                &lt;/Text&gt;&#10;            &lt;/Box&gt;&#10;        &lt;/Box&gt;&#10;&#10;        &lt;Box style={{ width: 192, flexDirection: 'column', justifyContent: 'center', gap: 22, borderLeft: '1px solid #E5E7EB', paddingLeft: 22 }}&gt;&#10;            &lt;Box style={{ flexDirection: 'column', gap: 4 }}&gt;&#10;                &lt;Text style={{ fontSize: 26, fontWeight: 'bold', color: '#1E4FA8', lineHeight: 1.1 }}&gt;84&lt;/Text&gt;&#10;                &lt;Text style={{ fontSize: 15, color: '#4A5568', lineHeight: 1.45 }}&gt;个 ES Module，没有前端框架&lt;/Text&gt;&#10;            &lt;/Box&gt;&#10;            &lt;Box style={{ flexDirection: 'column', gap: 4 }}&gt;&#10;                &lt;Text style={{ fontSize: 26, fontWeight: 'bold', color: '#1E4FA8', lineHeight: 1.1 }}&gt;7&lt;/Text&gt;&#10;                &lt;Text style={{ fontSize: 15, color: '#4A5568', lineHeight: 1.45 }}&gt;个 feature 目录，与后端业务域对齐&lt;/Text&gt;&#10;            &lt;/Box&gt;&#10;            &lt;Box style={{ flexDirection: 'column', gap: 4 }}&gt;&#10;                &lt;Text style={{ fontSize: 26, fontWeight: 'bold', color: '#1E4FA8', lineHeight: 1.1 }}&gt;0&lt;/Text&gt;&#10;                &lt;Text style={{ fontSize: 15, color: '#4A5568', lineHeight: 1.45 }}&gt;个运行时依赖，不引框架只写 ES Module&lt;/Text&gt;&#10;            &lt;/Box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8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571500" y="685800"/>
            <a:ext cx="4305300" cy="23526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37" name=""/>
          <p:cNvPicPr>
            <a:picLocks noChangeAspect="1"/>
          </p:cNvPicPr>
          <p:nvPr/>
        </p:nvPicPr>
        <p:blipFill>
          <a:blip r:embed="rId1"/>
          <a:srcRect l="8" t="0" r="8" b="0"/>
          <a:stretch>
            <a:fillRect/>
          </a:stretch>
        </p:blipFill>
        <p:spPr>
          <a:xfrm rot="0" flipH="0" flipV="0">
            <a:off x="571500" y="685800"/>
            <a:ext cx="4305300" cy="2352675"/>
          </a:xfrm>
          <a:prstGeom prst="rect">
            <a:avLst/>
          </a:prstGeom>
          <a:ln/>
        </p:spPr>
      </p:pic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71500" y="309562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词汇大挑战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 xml:space="preserve">151/5087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词，按周排计划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571500" y="3419475"/>
            <a:ext cx="4305300" cy="23526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40" name=""/>
          <p:cNvPicPr>
            <a:picLocks noChangeAspect="1"/>
          </p:cNvPicPr>
          <p:nvPr/>
        </p:nvPicPr>
        <p:blipFill>
          <a:blip r:embed="rId2"/>
          <a:srcRect l="544" t="0" r="544" b="0"/>
          <a:stretch>
            <a:fillRect/>
          </a:stretch>
        </p:blipFill>
        <p:spPr>
          <a:xfrm rot="0" flipH="0" flipV="0">
            <a:off x="571500" y="3419475"/>
            <a:ext cx="4305300" cy="2352675"/>
          </a:xfrm>
          <a:prstGeom prst="rect">
            <a:avLst/>
          </a:prstGeom>
          <a:ln/>
        </p:spPr>
      </p:pic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71500" y="5829300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语境精读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 xml:space="preserve">8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句原文，核心词高亮可点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5181600" y="685800"/>
            <a:ext cx="4305300" cy="23526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43" name=""/>
          <p:cNvPicPr>
            <a:picLocks noChangeAspect="1"/>
          </p:cNvPicPr>
          <p:nvPr/>
        </p:nvPicPr>
        <p:blipFill>
          <a:blip r:embed="rId3"/>
          <a:srcRect l="0" t="824" r="0" b="824"/>
          <a:stretch>
            <a:fillRect/>
          </a:stretch>
        </p:blipFill>
        <p:spPr>
          <a:xfrm rot="0" flipH="0" flipV="0">
            <a:off x="5181600" y="685800"/>
            <a:ext cx="4305300" cy="2352675"/>
          </a:xfrm>
          <a:prstGeom prst="rect">
            <a:avLst/>
          </a:prstGeom>
          <a:ln/>
        </p:spPr>
      </p:pic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181600" y="309562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场景文章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　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 xml:space="preserve">37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个待挑战词，译文可折叠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5181600" y="3419475"/>
            <a:ext cx="4305300" cy="23526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46" name=""/>
          <p:cNvPicPr>
            <a:picLocks noChangeAspect="1"/>
          </p:cNvPicPr>
          <p:nvPr/>
        </p:nvPicPr>
        <p:blipFill>
          <a:blip r:embed="rId4"/>
          <a:srcRect l="0" t="340" r="0" b="340"/>
          <a:stretch>
            <a:fillRect/>
          </a:stretch>
        </p:blipFill>
        <p:spPr>
          <a:xfrm rot="0" flipH="0" flipV="0">
            <a:off x="5181600" y="3419475"/>
            <a:ext cx="4305300" cy="2352675"/>
          </a:xfrm>
          <a:prstGeom prst="rect">
            <a:avLst/>
          </a:prstGeom>
          <a:ln/>
        </p:spPr>
      </p:pic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181600" y="5829300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复习跟敲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　逐字输入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 xml:space="preserve"> a-b-i-l-i-t-y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9791700" y="685800"/>
            <a:ext cx="1828800" cy="5600700"/>
          </a:xfrm>
          <a:custGeom>
            <a:pathLst>
              <a:path w="192" h="588">
                <a:moveTo>
                  <a:pt x="0" y="0"/>
                </a:moveTo>
                <a:lnTo>
                  <a:pt x="1" y="0"/>
                </a:lnTo>
                <a:lnTo>
                  <a:pt x="1" y="588"/>
                </a:lnTo>
                <a:lnTo>
                  <a:pt x="0" y="58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0010775" y="1962150"/>
            <a:ext cx="1609725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1E4FA8"/>
                </a:solidFill>
                <a:latin typeface="微软雅黑"/>
                <a:ea typeface="微软雅黑"/>
              </a:rPr>
              <a:t>84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0010775" y="2333625"/>
            <a:ext cx="16097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个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 xml:space="preserve"> ES Module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，没有前端框架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010775" y="3048000"/>
            <a:ext cx="1609725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1E4FA8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0010775" y="3419475"/>
            <a:ext cx="16097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个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 xml:space="preserve"> feature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目录，与后端业务域对齐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0010775" y="4133850"/>
            <a:ext cx="1609725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1E4F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0010775" y="4505325"/>
            <a:ext cx="16097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个运行时依赖，不引框架只写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 xml:space="preserve"> ES Module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功能落地：四个真实页面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277475" y="171450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07 · Implementation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60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验证结果：四层证据与一处未达标&lt;/Text&gt;&#10;        &lt;Text style={{ fontSize: 16, color: 'rgba(255,255,255,0.72)' }}&gt;08 · Evaluation&lt;/Text&gt;&#10;    &lt;/Box&gt;&#10;&#10;    &lt;Box style={{ flexDirection: 'column', width: 1160, height: 588, justifyContent: 'space-between' }}&gt;&#10;        &lt;Box style={{ flexDirection: 'row', gap: 40, height: 504 }}&gt;&#10;            &lt;Box style={{ width: 388, flexDirection: 'column', justifyContent: 'space-between' }}&gt;&#10;                &lt;Box style={{ flexDirection: 'column', gap: 2 }}&gt;&#10;                    &lt;Box style={{ flexDirection: 'row', alignItems: 'flex-end', gap: 6 }}&gt;&#10;                        &lt;Text style={{ fontSize: 56, fontWeight: 'bold', color: '#1E4FA8', lineHeight: 1 }}&gt;100&lt;/Text&gt;&#10;                        &lt;Text style={{ fontSize: 17, color: '#4A5568', paddingBottom: 6 }}&gt;并发&lt;/Text&gt;&#10;                    &lt;/Box&gt;&#10;                    &lt;Text style={{ fontSize: 17, color: '#4A5568', lineHeight: 1.5 }}&gt;只读接口全部成功返回，无超时、无 5xx&lt;/Text&gt;&#10;                &lt;/Box&gt;&#10;                &lt;Box style={{ width: 388, height: 1, background: '#E5E7EB' }} /&gt;&#10;                &lt;Box style={{ flexDirection: 'column', gap: 2 }}&gt;&#10;                    &lt;Box style={{ flexDirection: 'row', alignItems: 'flex-end', gap: 6 }}&gt;&#10;                        &lt;Text style={{ fontSize: 56, fontWeight: 'bold', color: '#1E4FA8', lineHeight: 1 }}&gt;1989&lt;/Text&gt;&#10;                        &lt;Text style={{ fontSize: 17, color: '#4A5568', paddingBottom: 6 }}&gt;ms&lt;/Text&gt;&#10;                    &lt;/Box&gt;&#10;                    &lt;Text style={{ fontSize: 17, color: '#4A5568', lineHeight: 1.5 }}&gt;首屏渲染 P95，业务数据就绪的本地环境&lt;/Text&gt;&#10;                &lt;/Box&gt;&#10;                &lt;Box style={{ width: 388, height: 1, background: '#E5E7EB' }} /&gt;&#10;                &lt;Box style={{ flexDirection: 'column', gap: 2 }}&gt;&#10;                    &lt;Box style={{ flexDirection: 'row', alignItems: 'flex-end', gap: 6 }}&gt;&#10;                        &lt;Text style={{ fontSize: 56, fontWeight: 'bold', color: '#1E4FA8', lineHeight: 1 }}&gt;97.17&lt;/Text&gt;&#10;                        &lt;Text style={{ fontSize: 17, color: '#4A5568', paddingBottom: 6 }}&gt;%&lt;/Text&gt;&#10;                    &lt;/Box&gt;&#10;                    &lt;Text style={{ fontSize: 17, color: '#4A5568', lineHeight: 1.5 }}&gt;编辑距离 ≤2 时拼写纠错的 Top-1 准确率&lt;/Text&gt;&#10;                &lt;/Box&gt;&#10;                &lt;Box style={{ flexDirection: 'column', gap: 4, paddingTop: 14, borderTop: '1px solid #E5E7EB' }}&gt;&#10;                    &lt;Text style={{ fontSize: 15, fontWeight: 'bold', color: '#1A2230' }}&gt;测试环境&lt;/Text&gt;&#10;                    &lt;Text style={{ fontSize: 15, color: '#8B97A8', lineHeight: 1.5 }}&gt;&#10;                        本机单进程 + MySQL 8，不含独立服务器与多机网络&#10;                    &lt;/Text&gt;&#10;                &lt;/Box&gt;&#10;            &lt;/Box&gt;&#10;&#10;            &lt;Box style={{ width: 732, flexDirection: 'column', justifyContent: 'space-between' }}&gt;&#10;                &lt;Box style={{ flexDirection: 'column' }}&gt;&#10;                    &lt;Box style={{ flexDirection: 'row', paddingBottom: 10, borderBottom: '1px solid #1A2230' }}&gt;&#10;                        &lt;Text style={{ width: 250, fontSize: 15, fontWeight: 'bold', color: '#8B97A8' }}&gt;指标&lt;/Text&gt;&#10;                        &lt;Text style={{ width: 150, fontSize: 15, fontWeight: 'bold', color: '#8B97A8' }}&gt;目标&lt;/Text&gt;&#10;                        &lt;Text style={{ width: 200, fontSize: 15, fontWeight: 'bold', color: '#8B97A8' }}&gt;实测&lt;/Text&gt;&#10;                        &lt;Text style={{ width: 132, fontSize: 15, fontWeight: 'bold', color: '#8B97A8' }}&gt;结论&lt;/Text&gt;&#10;                    &lt;/Box&gt;&#10;                    &lt;Box style={{ flexDirection: 'row', paddingTop: 12, paddingBottom: 12, borderBottom: '1px solid #E5E7EB', alignItems: 'center' }}&gt;&#10;                        &lt;Text style={{ width: 250, fontSize: 18, color: '#1A2230', fontWeight: 'bold' }}&gt;缓存复用率&lt;/Text&gt;&#10;                        &lt;Text style={{ width: 150, fontSize: 18, color: '#4A5568' }}&gt;≥ 95%&lt;/Text&gt;&#10;                        &lt;Text style={{ width: 200, fontSize: 18, color: '#D9534F', fontWeight: 'bold' }}&gt;83.80%&lt;/Text&gt;&#10;                        &lt;Text style={{ width: 132, fontSize: 17, color: '#D9534F' }}&gt;未达标&lt;/Text&gt;&#10;                    &lt;/Box&gt;&#10;                    &lt;Box style={{ flexDirection: 'row', paddingTop: 12, paddingBottom: 12, borderBottom: '1px solid #E5E7EB', alignItems: 'center' }}&gt;&#10;                        &lt;Text style={{ width: 250, fontSize: 18, color: '#1A2230' }}&gt;模型调用成功率&lt;/Text&gt;&#10;                        &lt;Text style={{ width: 150, fontSize: 18, color: '#4A5568' }}&gt;—&lt;/Text&gt;&#10;                        &lt;Text style={{ width: 200, fontSize: 18, color: '#1A2230' }}&gt;95.49%&lt;/Text&gt;&#10;                        &lt;Text style={{ width: 132, fontSize: 17, color: '#4A5568' }}&gt;稳定版本样本&lt;/Text&gt;&#10;                    &lt;/Box&gt;&#10;                    &lt;Box style={{ flexDirection: 'row', paddingTop: 12, paddingBottom: 12, borderBottom: '1px solid #E5E7EB', alignItems: 'center' }}&gt;&#10;                        &lt;Text style={{ width: 250, fontSize: 18, color: '#1A2230' }}&gt;自动判题正确率&lt;/Text&gt;&#10;                        &lt;Text style={{ width: 150, fontSize: 18, color: '#4A5568' }}&gt;—&lt;/Text&gt;&#10;                        &lt;Text style={{ width: 200, fontSize: 18, color: '#1A2230' }}&gt;97.62%&lt;/Text&gt;&#10;                        &lt;Text style={{ width: 132, fontSize: 17, color: '#4A5568' }}&gt;真实学习记录&lt;/Text&gt;&#10;                    &lt;/Box&gt;&#10;                    &lt;Box style={{ flexDirection: 'row', paddingTop: 12, paddingBottom: 12, borderBottom: '1px solid #E5E7EB', alignItems: 'center' }}&gt;&#10;                        &lt;Text style={{ width: 250, fontSize: 18, color: '#1A2230' }}&gt;后端测试&lt;/Text&gt;&#10;                        &lt;Text style={{ width: 150, fontSize: 18, color: '#4A5568' }}&gt;全通过&lt;/Text&gt;&#10;                        &lt;Text style={{ width: 200, fontSize: 18, color: '#1A2230' }}&gt;140 项 · 139 通过&lt;/Text&gt;&#10;                        &lt;Text style={{ width: 132, fontSize: 17, color: '#4A5568' }}&gt;1 项跳过&lt;/Text&gt;&#10;                    &lt;/Box&gt;&#10;                    &lt;Box style={{ flexDirection: 'row', paddingTop: 12, alignItems: 'center' }}&gt;&#10;                        &lt;Text style={{ width: 250, fontSize: 18, color: '#1A2230' }}&gt;前端模块检查&lt;/Text&gt;&#10;                        &lt;Text style={{ width: 150, fontSize: 18, color: '#4A5568' }}&gt;单文件 ≤1000 行&lt;/Text&gt;&#10;                        &lt;Text style={{ width: 200, fontSize: 18, color: '#1A2230' }}&gt;84 JS 全部通过&lt;/Text&gt;&#10;                        &lt;Text style={{ width: 132, fontSize: 17, color: '#4A5568' }}&gt;自检脚本&lt;/Text&gt;&#10;                    &lt;/Box&gt;&#10;                &lt;/Box&gt;&#10;&#10;                &lt;Box style={{ flexDirection: 'column', gap: 6, background: '#F7F9FC', padding: '16px 20px' }}&gt;&#10;                    &lt;Text style={{ fontSize: 16, fontWeight: 'bold', color: '#1A2230' }}&gt;这些数字的边界&lt;/Text&gt;&#10;                    &lt;Text style={{ fontSize: 16, color: '#4A5568', lineHeight: 1.55 }}&gt;&#10;                        缓存复用率没到任务书要求的 95%，原因是样本里首次学习的词占比过高；140 项测试中跳过的是依赖 Testcontainers 的 MySQL 集成测试，本机 Docker 不可用。数据链来自本机真实库：5087 词、82 个学习单元、419 条学习记录。&#10;                    &lt;/Text&gt;&#10;                &lt;/Box&gt;&#10;            &lt;/Box&gt;&#10;        &lt;/Box&gt;&#10;&#10;        &lt;Box style={{ flexDirection: 'row', background: '#E8EFF8', alignItems: 'center', padding: '14px 22px', gap: 14 }}&gt;&#10;            &lt;Box style={{ width: 3, height: 30, background: '#1E4FA8' }} /&gt;&#10;            &lt;Text style={{ fontSize: 18, color: '#1A2230' }}&gt;&#10;                能测的都给出了实测值；没达标的写清原因，比把数字藏起来更经得起追问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09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71500" y="685800"/>
            <a:ext cx="8953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微软雅黑"/>
                <a:ea typeface="微软雅黑"/>
              </a:rPr>
              <a:t>100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524000" y="1076325"/>
            <a:ext cx="323850" cy="25717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并发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71500" y="1352550"/>
            <a:ext cx="36957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只读接口全部成功返回，无超时、无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5xx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571500" y="1905000"/>
            <a:ext cx="36957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71500" y="2171700"/>
            <a:ext cx="11906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微软雅黑"/>
                <a:ea typeface="微软雅黑"/>
              </a:rPr>
              <a:t>1989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819275" y="2562225"/>
            <a:ext cx="219075" cy="25717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ms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71500" y="2838450"/>
            <a:ext cx="36957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首屏渲染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P95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，业务数据就绪的本地环境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571500" y="3390900"/>
            <a:ext cx="36957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1343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微软雅黑"/>
                <a:ea typeface="微软雅黑"/>
              </a:rPr>
              <a:t>97.17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971675" y="4048125"/>
            <a:ext cx="152400" cy="25717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%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71500" y="4324350"/>
            <a:ext cx="36957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编辑距离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≤2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时拼写纠错的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 Top-1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准确率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571500" y="4876800"/>
            <a:ext cx="3695700" cy="619125"/>
          </a:xfrm>
          <a:custGeom>
            <a:pathLst>
              <a:path w="388" h="65">
                <a:moveTo>
                  <a:pt x="0" y="0"/>
                </a:moveTo>
                <a:lnTo>
                  <a:pt x="388" y="0"/>
                </a:lnTo>
                <a:lnTo>
                  <a:pt x="3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71500" y="501967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微软雅黑"/>
                <a:ea typeface="微软雅黑"/>
              </a:rPr>
              <a:t>测试环境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71500" y="5229225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本机单进程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 xml:space="preserve"> + MySQL 8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，不含独立服务器与多机网络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4648200" y="685800"/>
            <a:ext cx="6972300" cy="285750"/>
          </a:xfrm>
          <a:custGeom>
            <a:pathLst>
              <a:path w="732" h="30">
                <a:moveTo>
                  <a:pt x="0" y="29"/>
                </a:moveTo>
                <a:lnTo>
                  <a:pt x="732" y="29"/>
                </a:lnTo>
                <a:lnTo>
                  <a:pt x="73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1A2230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648200" y="6858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97A8"/>
                </a:solidFill>
                <a:latin typeface="微软雅黑"/>
                <a:ea typeface="微软雅黑"/>
              </a:rPr>
              <a:t>指标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029450" y="6858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97A8"/>
                </a:solidFill>
                <a:latin typeface="微软雅黑"/>
                <a:ea typeface="微软雅黑"/>
              </a:rPr>
              <a:t>目标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458200" y="6858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97A8"/>
                </a:solidFill>
                <a:latin typeface="微软雅黑"/>
                <a:ea typeface="微软雅黑"/>
              </a:rPr>
              <a:t>实测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0363200" y="685800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97A8"/>
                </a:solidFill>
                <a:latin typeface="微软雅黑"/>
                <a:ea typeface="微软雅黑"/>
              </a:rPr>
              <a:t>结论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648200" y="962025"/>
            <a:ext cx="6972300" cy="457200"/>
          </a:xfrm>
          <a:custGeom>
            <a:pathLst>
              <a:path w="732" h="48">
                <a:moveTo>
                  <a:pt x="0" y="47"/>
                </a:moveTo>
                <a:lnTo>
                  <a:pt x="732" y="47"/>
                </a:lnTo>
                <a:lnTo>
                  <a:pt x="73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648200" y="107632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缓存复用率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029450" y="10763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>≥ 95%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458200" y="1076325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534F"/>
                </a:solidFill>
                <a:latin typeface="微软雅黑"/>
                <a:ea typeface="微软雅黑"/>
              </a:rPr>
              <a:t>83.80%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0363200" y="1085850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9534F"/>
                </a:solidFill>
                <a:latin typeface="微软雅黑"/>
                <a:ea typeface="微软雅黑"/>
              </a:rPr>
              <a:t>未达标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648200" y="1409700"/>
            <a:ext cx="6972300" cy="457200"/>
          </a:xfrm>
          <a:custGeom>
            <a:pathLst>
              <a:path w="732" h="48">
                <a:moveTo>
                  <a:pt x="0" y="47"/>
                </a:moveTo>
                <a:lnTo>
                  <a:pt x="732" y="47"/>
                </a:lnTo>
                <a:lnTo>
                  <a:pt x="73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648200" y="1524000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模型调用成功率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029450" y="15240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4A5568"/>
                </a:solidFill>
                <a:latin typeface="微软雅黑"/>
                <a:ea typeface="微软雅黑"/>
              </a:rPr>
              <a:t>—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458200" y="152400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95.49%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0363200" y="1533525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稳定版本样本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4648200" y="1857375"/>
            <a:ext cx="6972300" cy="457200"/>
          </a:xfrm>
          <a:custGeom>
            <a:pathLst>
              <a:path w="732" h="48">
                <a:moveTo>
                  <a:pt x="0" y="47"/>
                </a:moveTo>
                <a:lnTo>
                  <a:pt x="732" y="47"/>
                </a:lnTo>
                <a:lnTo>
                  <a:pt x="73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648200" y="197167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自动判题正确率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029450" y="19716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4A5568"/>
                </a:solidFill>
                <a:latin typeface="微软雅黑"/>
                <a:ea typeface="微软雅黑"/>
              </a:rPr>
              <a:t>—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458200" y="1971675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97.62%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0363200" y="1981200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真实学习记录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4648200" y="2305050"/>
            <a:ext cx="6972300" cy="457200"/>
          </a:xfrm>
          <a:custGeom>
            <a:pathLst>
              <a:path w="732" h="48">
                <a:moveTo>
                  <a:pt x="0" y="47"/>
                </a:moveTo>
                <a:lnTo>
                  <a:pt x="732" y="47"/>
                </a:lnTo>
                <a:lnTo>
                  <a:pt x="73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648200" y="2419350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后端测试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029450" y="24193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全通过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458200" y="241935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140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项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· 139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通过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0363200" y="2428875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 xml:space="preserve">1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项跳过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648200" y="286702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前端模块检查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029450" y="28670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单文件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 xml:space="preserve"> ≤1000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行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458200" y="2867025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84 JS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全部通过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0363200" y="2876550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自检脚本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4648200" y="4076700"/>
            <a:ext cx="6972300" cy="1409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838700" y="4229100"/>
            <a:ext cx="659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这些数字的边界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838700" y="4476750"/>
            <a:ext cx="65913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缓存复用率没到任务书要求的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 95%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，原因是样本里首次学习的词占比过高；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140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项测试中跳过的是依赖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 Testcontainers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的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 MySQL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集成测试，本机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 Docker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不可用。数据链来自本机真实库：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5087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词、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82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个学习单元、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 xml:space="preserve">419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条学习记录。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582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能测的都给出了实测值；没达标的写清原因，比把数字藏起来更经得起追问。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4572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验证结果：四层证据与一处未达标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610850" y="171450"/>
            <a:ext cx="100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08 · Evaluation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9" name="" descr="&lt;Slide style={{ width: 1280, height: 720, background: '#FFFFFF', position: 'relative', fontFamily: '微软雅黑', padding: '72px 60px 60px 60px' }}&gt;&#10;    &lt;Box style={{ position: 'absolute', top: 0, left: 0, width: 1280, height: 56, background: '#1E4FA8', flexDirection: 'row', alignItems: 'center', justifyContent: 'space-between', paddingLeft: 60, paddingRight: 60 }}&gt;&#10;        &lt;Text style={{ fontSize: 32, fontWeight: 'bold', color: '#FFFFFF' }}&gt;结论、局限与后续&lt;/Text&gt;&#10;        &lt;Text style={{ fontSize: 16, color: 'rgba(255,255,255,0.72)' }}&gt;09 · Conclusion&lt;/Text&gt;&#10;    &lt;/Box&gt;&#10;&#10;    &lt;Box style={{ flexDirection: 'column', width: 1160, height: 588, justifyContent: 'space-between' }}&gt;&#10;        &lt;Box style={{ flexDirection: 'row', gap: 44, height: 362 }}&gt;&#10;            &lt;Box style={{ width: 620, flexDirection: 'column', justifyContent: 'space-between' }}&gt;&#10;                &lt;Text style={{ fontSize: 14, color: '#8B97A8', letterSpacing: 1 }}&gt;三条结论&lt;/Text&gt;&#10;                &lt;Box style={{ flexDirection: 'row', gap: 16, paddingBottom: 16, borderBottom: '1px solid #E5E7EB' }}&gt;&#10;                    &lt;Text style={{ fontSize: 22, fontWeight: 'bold', color: '#1E4FA8', width: 36 }}&gt;01&lt;/Text&gt;&#10;                    &lt;Box style={{ flexDirection: 'column', gap: 5, width: 568 }}&gt;&#10;                        &lt;Text style={{ fontSize: 21, fontWeight: 'bold', color: '#1A2230' }}&gt;把一次模型调用收敛成可追踪的任务&lt;/Text&gt;&#10;                        &lt;Text style={{ fontSize: 17, color: '#4A5568', lineHeight: 1.5 }}&gt;&#10;                            场景、模型、Token、解析结果都留痕；失败按「那一步的那一次」重试，不整单重跑。&#10;                        &lt;/Text&gt;&#10;                    &lt;/Box&gt;&#10;                &lt;/Box&gt;&#10;                &lt;Box style={{ flexDirection: 'row', gap: 16, paddingTop: 16, paddingBottom: 16, borderBottom: '1px solid #E5E7EB' }}&gt;&#10;                    &lt;Text style={{ fontSize: 22, fontWeight: 'bold', color: '#1E4FA8', width: 36 }}&gt;02&lt;/Text&gt;&#10;                    &lt;Box style={{ flexDirection: 'column', gap: 5, width: 568 }}&gt;&#10;                        &lt;Text style={{ fontSize: 21, fontWeight: 'bold', color: '#1A2230' }}&gt;学习资产按边界分层，刷新冲不掉&lt;/Text&gt;&#10;                        &lt;Text style={{ fontSize: 17, color: '#4A5568', lineHeight: 1.5 }}&gt;&#10;                            公共缓存可刷新以压低成本，个人快照与复习排期长期稳定，生成历史只追加。&#10;                        &lt;/Text&gt;&#10;                    &lt;/Box&gt;&#10;                &lt;/Box&gt;&#10;                &lt;Box style={{ flexDirection: 'row', gap: 16, paddingTop: 16 }}&gt;&#10;                    &lt;Text style={{ fontSize: 22, fontWeight: 'bold', color: '#1E4FA8', width: 36 }}&gt;03&lt;/Text&gt;&#10;                    &lt;Box style={{ flexDirection: 'column', gap: 5, width: 568 }}&gt;&#10;                        &lt;Text style={{ fontSize: 21, fontWeight: 'bold', color: '#1A2230' }}&gt;模块化单体在没有微服务成本的前提下守住边界&lt;/Text&gt;&#10;                        &lt;Text style={{ fontSize: 17, color: '#4A5568', lineHeight: 1.5 }}&gt;&#10;                            六域四层，靠架构测试、规模与文档治理把边界变成可执行的门槛。&#10;                        &lt;/Text&gt;&#10;                    &lt;/Box&gt;&#10;                &lt;/Box&gt;&#10;            &lt;/Box&gt;&#10;&#10;            &lt;Box style={{ width: 496, flexDirection: 'column', gap: 12 }}&gt;&#10;                &lt;Text style={{ fontSize: 14, color: '#8B97A8', letterSpacing: 1 }}&gt;局限（这三条都写在论文里）&lt;/Text&gt;&#10;                &lt;Box style={{ flexDirection: 'row', gap: 10, alignItems: 'flex-start' }}&gt;&#10;                    &lt;Box style={{ width: 6, height: 6, background: '#D9534F', marginTop: 10 }} /&gt;&#10;                    &lt;Text style={{ fontSize: 18, color: '#1A2230', lineHeight: 1.55, width: 470 }}&gt;&#10;                        学习数据几乎全部来自单个学习者，跨用户效果无从对照。&#10;                    &lt;/Text&gt;&#10;                &lt;/Box&gt;&#10;                &lt;Box style={{ flexDirection: 'row', gap: 10, alignItems: 'flex-start' }}&gt;&#10;                    &lt;Box style={{ width: 6, height: 6, background: '#D9534F', marginTop: 10 }} /&gt;&#10;                    &lt;Text style={{ fontSize: 18, color: '#1A2230', lineHeight: 1.55, width: 470 }}&gt;&#10;                        并发与首屏只在本地测，独立服务器与多机网络下的表现未验证。&#10;                    &lt;/Text&gt;&#10;                &lt;/Box&gt;&#10;                &lt;Box style={{ flexDirection: 'row', gap: 10, alignItems: 'flex-start' }}&gt;&#10;                    &lt;Box style={{ width: 6, height: 6, background: '#D9534F', marginTop: 10 }} /&gt;&#10;                    &lt;Text style={{ fontSize: 18, color: '#1A2230', lineHeight: 1.55, width: 470 }}&gt;&#10;                        缓存复用率 83.80%，没到任务书要求的 95%，首次学习词占比偏高。&#10;                    &lt;/Text&gt;&#10;                &lt;/Box&gt;&#10;                &lt;Box style={{ flexDirection: 'row', gap: 10, alignItems: 'flex-start' }}&gt;&#10;                    &lt;Box style={{ width: 6, height: 6, background: '#D9534F', marginTop: 10 }} /&gt;&#10;                    &lt;Text style={{ fontSize: 18, color: '#1A2230', lineHeight: 1.55, width: 470 }}&gt;&#10;                        生成内容缺人工纠错、质量评分与事实核验，错了只能靠用户发现。&#10;                    &lt;/Text&gt;&#10;                &lt;/Box&gt;&#10;                &lt;Text style={{ fontSize: 15, color: '#8B97A8', lineHeight: 1.5, marginTop: 4 }}&gt;&#10;                    前三条决定了结论的适用范围：单机、单用户、小样本。&#10;                &lt;/Text&gt;&#10;            &lt;/Box&gt;&#10;        &lt;/Box&gt;&#10;&#10;        &lt;Box style={{ flexDirection: 'column', gap: 10, paddingTop: 18, borderTop: '1px solid #E5E7EB' }}&gt;&#10;            &lt;Text style={{ fontSize: 14, color: '#8B97A8', letterSpacing: 1 }}&gt;后续工作&lt;/Text&gt;&#10;            &lt;Box style={{ flexDirection: 'row', gap: 24 }}&gt;&#10;                &lt;Box style={{ width: 370, flexDirection: 'row', gap: 10, alignItems: 'flex-start' }}&gt;&#10;                    &lt;Text style={{ fontSize: 16, fontWeight: 'bold', color: '#3D7BD9', width: 24 }}&gt;01&lt;/Text&gt;&#10;                    &lt;Text style={{ fontSize: 17, color: '#1A2230', lineHeight: 1.5, width: 346 }}&gt;&#10;                        把自适应间隔重复做进去，用 A/B 评估长期留存。&#10;                    &lt;/Text&gt;&#10;                &lt;/Box&gt;&#10;                &lt;Box style={{ width: 370, flexDirection: 'row', gap: 10, alignItems: 'flex-start' }}&gt;&#10;                    &lt;Text style={{ fontSize: 16, fontWeight: 'bold', color: '#3D7BD9', width: 24 }}&gt;02&lt;/Text&gt;&#10;                    &lt;Text style={{ fontSize: 17, color: '#1A2230', lineHeight: 1.5, width: 346 }}&gt;&#10;                        给生成内容补治理闭环：纠错、评分、核验、版本比较。&#10;                    &lt;/Text&gt;&#10;                &lt;/Box&gt;&#10;                &lt;Box style={{ width: 370, flexDirection: 'row', gap: 10, alignItems: 'flex-start' }}&gt;&#10;                    &lt;Text style={{ fontSize: 16, fontWeight: 'bold', color: '#3D7BD9', width: 24 }}&gt;03&lt;/Text&gt;&#10;                    &lt;Text style={{ fontSize: 17, color: '#1A2230', lineHeight: 1.5, width: 346 }}&gt;&#10;                        把这套骨架迁到听说读写其他场景，验证可复用性。&#10;                    &lt;/Text&gt;&#10;                &lt;/Box&gt;&#10;            &lt;/Box&gt;&#10;        &lt;/Box&gt;&#10;&#10;        &lt;Box style={{ flexDirection: 'row', background: '#E8EFF8', alignItems: 'center', padding: '14px 22px', gap: 14 }}&gt;&#10;            &lt;Box style={{ width: 3, height: 30, background: '#1E4FA8' }} /&gt;&#10;            &lt;Text style={{ fontSize: 18, color: '#1A2230' }}&gt;&#10;                这套骨架的价值不在「能生成」，而在生成之后还能被管、被查、被复习。&#10;            &lt;/Text&gt;&#10;        &lt;/Box&gt;&#10;    &lt;/Box&gt;&#10;&#10;    &lt;Box style={{ position: 'absolute', top: 670, left: 60, width: 1160, flexDirection: 'row', justifyContent: 'space-between' }}&gt;&#10;        &lt;Text style={{ fontSize: 14, color: '#8B97A8' }}&gt;基于大模型的英语学习助手 · 毕业答辩&lt;/Text&gt;&#10;        &lt;Text style={{ fontSize: 14, color: '#8B97A8' }}&gt;10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71500" y="68580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三条结论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71500" y="942975"/>
            <a:ext cx="5905500" cy="1057275"/>
          </a:xfrm>
          <a:custGeom>
            <a:pathLst>
              <a:path w="620" h="111">
                <a:moveTo>
                  <a:pt x="0" y="110"/>
                </a:moveTo>
                <a:lnTo>
                  <a:pt x="620" y="110"/>
                </a:lnTo>
                <a:lnTo>
                  <a:pt x="620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42975"/>
            <a:ext cx="342900" cy="885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66800" y="942975"/>
            <a:ext cx="541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把一次模型调用收敛成可追踪的任务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66800" y="1238250"/>
            <a:ext cx="5410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场景、模型、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Token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、解析结果都留痕；失败按「那一步的那一次」重试，不整单重跑。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2095500"/>
            <a:ext cx="5905500" cy="1209675"/>
          </a:xfrm>
          <a:custGeom>
            <a:pathLst>
              <a:path w="620" h="127">
                <a:moveTo>
                  <a:pt x="0" y="126"/>
                </a:moveTo>
                <a:lnTo>
                  <a:pt x="620" y="126"/>
                </a:lnTo>
                <a:lnTo>
                  <a:pt x="620" y="127"/>
                </a:lnTo>
                <a:lnTo>
                  <a:pt x="0" y="127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71500" y="2247900"/>
            <a:ext cx="342900" cy="885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66800" y="2247900"/>
            <a:ext cx="541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学习资产按边界分层，刷新冲不掉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66800" y="2543175"/>
            <a:ext cx="5410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公共缓存可刷新以压低成本，个人快照与复习排期长期稳定，生成历史只追加。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34290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66800" y="3543300"/>
            <a:ext cx="541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模块化单体在没有微服务成本的前提下守住边界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66800" y="3838575"/>
            <a:ext cx="54102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六域四层，靠架构测试、规模与文档治理把边界变成可执行的门槛。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96100" y="685800"/>
            <a:ext cx="472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局限（这三条都写在论文里）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896100" y="1057275"/>
            <a:ext cx="57150" cy="571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048500" y="962025"/>
            <a:ext cx="44767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学习数据几乎全部来自单个学习者，跨用户效果无从对照。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896100" y="1495425"/>
            <a:ext cx="57150" cy="571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048500" y="1400175"/>
            <a:ext cx="4476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并发与首屏只在本地测，独立服务器与多机网络下的表现未验证。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896100" y="2247900"/>
            <a:ext cx="57150" cy="571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048500" y="2152650"/>
            <a:ext cx="4476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缓存复用率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83.80%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，没到任务书要求的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 xml:space="preserve"> 95%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，首次学习词占比偏高。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96100" y="3000375"/>
            <a:ext cx="57150" cy="571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048500" y="2905125"/>
            <a:ext cx="4476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生成内容缺人工纠错、质量评分与事实核验，错了只能靠用户发现。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96100" y="3695700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前三条决定了结论的适用范围：单机、单用户、小样本。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571500" y="4419600"/>
            <a:ext cx="11049000" cy="1038225"/>
          </a:xfrm>
          <a:custGeom>
            <a:pathLst>
              <a:path w="1160" h="109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1500" y="4600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微软雅黑"/>
                <a:ea typeface="微软雅黑"/>
              </a:rPr>
              <a:t>后续工作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4857750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85825" y="4857750"/>
            <a:ext cx="32099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把自适应间隔重复做进去，用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 xml:space="preserve"> A/B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评估长期留存。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324350" y="4857750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638675" y="4857750"/>
            <a:ext cx="32099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给生成内容补治理闭环：纠错、评分、核验、版本比较。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077200" y="4857750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91525" y="4857750"/>
            <a:ext cx="32099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把这套骨架迁到听说读写其他场景，验证可复用性。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781050" y="5867400"/>
            <a:ext cx="28575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42975" y="5905500"/>
            <a:ext cx="565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这套骨架的价值不在「能生成」，而在生成之后还能被管、被查、被复习。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71500" y="85725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结论、局限与后续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563225" y="1714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09 · Conclusion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毕业答辩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9" name="" descr="&lt;Slide style={{ width: 1280, height: 720, background: '#FFFFFF', position: 'relative', fontFamily: '微软雅黑' }}&gt;&#10;    &lt;Box style={{ position: 'absolute', top: 0, left: 0, width: 1280, height: 6, background: '#1E4FA8' }} /&gt;&#10;&#10;    &lt;Box style={{ position: 'absolute', left: 96, top: 268, width: 6, height: 116, background: '#1E4FA8' }} /&gt;&#10;&#10;    &lt;Text style={{ position: 'absolute', left: 128, top: 262, width: 1000, fontSize: 44, fontWeight: 'bold', color: '#1A2230' }}&gt;&#10;        请各位老师批评指正&#10;    &lt;/Text&gt;&#10;&#10;    &lt;Text style={{ position: 'absolute', left: 128, top: 340, width: 900, fontSize: 20, color: '#4A5568', lineHeight: 1.5 }}&gt;&#10;        基于大模型的英语学习助手 · 系统设计与实现&#10;    &lt;/Text&gt;&#10;&#10;    &lt;Box style={{ position: 'absolute', left: 128, top: 430, width: 640, height: 1, background: '#D6DCE5' }} /&gt;&#10;&#10;    &lt;Text style={{ position: 'absolute', left: 128, top: 452, width: 900, fontSize: 18, color: '#4A5568' }}&gt;&#10;        答辩人 钱丁君　·　学号 234A0776　·　指导教师 刘福岩　·　2026 年 10 月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914400" y="2552700"/>
            <a:ext cx="57150" cy="1104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19200" y="2495550"/>
            <a:ext cx="9525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A2230"/>
                </a:solidFill>
                <a:latin typeface="微软雅黑"/>
                <a:ea typeface="微软雅黑"/>
              </a:rPr>
              <a:t>请各位老师批评指正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219200" y="3238500"/>
            <a:ext cx="85725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微软雅黑"/>
                <a:ea typeface="微软雅黑"/>
              </a:rPr>
              <a:t>基于大模型的英语学习助手</a:t>
            </a:r>
            <a:r>
              <a:rPr lang="en-US" sz="1500">
                <a:solidFill>
                  <a:srgbClr val="4A5568"/>
                </a:solidFill>
                <a:latin typeface="微软雅黑"/>
                <a:ea typeface="微软雅黑"/>
              </a:rPr>
              <a:t xml:space="preserve"> · </a:t>
            </a:r>
            <a:r>
              <a:rPr lang="zh-CN" sz="1500">
                <a:solidFill>
                  <a:srgbClr val="4A5568"/>
                </a:solidFill>
                <a:latin typeface="微软雅黑"/>
                <a:ea typeface="微软雅黑"/>
              </a:rPr>
              <a:t>系统设计与实现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1219200" y="4095750"/>
            <a:ext cx="6096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219200" y="4305300"/>
            <a:ext cx="8572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答辩人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钱丁君　·　学号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 xml:space="preserve"> 234A0776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　·　指导教师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刘福岩　·　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 xml:space="preserve">2026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年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 xml:space="preserve"> 10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2026-10-26T16:14:27Z</dcterms:created>
  <dcterms:modified xsi:type="dcterms:W3CDTF">2026-10-26T16:14:27Z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{"AIGC":{"Label":"1","ContentProducer":"00119111010856365494821B355","ProduceID":"01a176f941067682bea346c1211cfd1f","ReservedCode1":"","ContentPropagator":"00119111010856365494821B355","PropagateID":"01a176f941067682bea346c1211cfd1f","ReservedCode2":""}}</vt:lpwstr>
  </property>
</Properties>
</file>